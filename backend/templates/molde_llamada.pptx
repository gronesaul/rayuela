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84" r:id="rId3"/>
    <p:sldId id="324" r:id="rId4"/>
    <p:sldId id="325" r:id="rId5"/>
    <p:sldId id="286" r:id="rId6"/>
    <p:sldId id="287" r:id="rId7"/>
    <p:sldId id="323" r:id="rId8"/>
    <p:sldId id="282" r:id="rId9"/>
  </p:sldIdLst>
  <p:sldSz cx="7772400" cy="10058400"/>
  <p:notesSz cx="6954838" cy="9309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2482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0302" y="2621237"/>
            <a:ext cx="343335" cy="36382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9338802"/>
            <a:ext cx="1029534" cy="6592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342" y="9300692"/>
            <a:ext cx="644232" cy="69738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" y="9338373"/>
            <a:ext cx="7505700" cy="3810"/>
          </a:xfrm>
          <a:custGeom>
            <a:avLst/>
            <a:gdLst/>
            <a:ahLst/>
            <a:cxnLst/>
            <a:rect l="l" t="t" r="r" b="b"/>
            <a:pathLst>
              <a:path w="7505700" h="3809">
                <a:moveTo>
                  <a:pt x="0" y="0"/>
                </a:moveTo>
                <a:lnTo>
                  <a:pt x="7505700" y="3416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150" y="866394"/>
            <a:ext cx="7505700" cy="20320"/>
          </a:xfrm>
          <a:custGeom>
            <a:avLst/>
            <a:gdLst/>
            <a:ahLst/>
            <a:cxnLst/>
            <a:rect l="l" t="t" r="r" b="b"/>
            <a:pathLst>
              <a:path w="7505700" h="20319">
                <a:moveTo>
                  <a:pt x="0" y="19811"/>
                </a:moveTo>
                <a:lnTo>
                  <a:pt x="750570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0927" y="133348"/>
            <a:ext cx="0" cy="9864725"/>
          </a:xfrm>
          <a:custGeom>
            <a:avLst/>
            <a:gdLst/>
            <a:ahLst/>
            <a:cxnLst/>
            <a:rect l="l" t="t" r="r" b="b"/>
            <a:pathLst>
              <a:path h="9864725">
                <a:moveTo>
                  <a:pt x="0" y="9864725"/>
                </a:moveTo>
                <a:lnTo>
                  <a:pt x="0" y="0"/>
                </a:lnTo>
              </a:path>
            </a:pathLst>
          </a:custGeom>
          <a:ln w="38100">
            <a:solidFill>
              <a:srgbClr val="75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0" y="133324"/>
            <a:ext cx="1193965" cy="11823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6682" y="153187"/>
            <a:ext cx="644232" cy="73847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99656" y="9450731"/>
            <a:ext cx="476262" cy="5185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044" y="40030"/>
            <a:ext cx="5058410" cy="76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8687" y="1639125"/>
            <a:ext cx="6445250" cy="411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955851"/>
            <a:ext cx="179536" cy="278980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011" y="768120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4785" y="1151077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8288" y="8025"/>
            <a:ext cx="348234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dirty="0" err="1"/>
              <a:t>Planear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 err="1"/>
              <a:t>acompañamiento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10" dirty="0" err="1"/>
              <a:t>distancia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969568" y="978357"/>
            <a:ext cx="4591050" cy="172720"/>
          </a:xfrm>
          <a:custGeom>
            <a:avLst/>
            <a:gdLst/>
            <a:ahLst/>
            <a:cxnLst/>
            <a:rect l="l" t="t" r="r" b="b"/>
            <a:pathLst>
              <a:path w="4591050" h="172719">
                <a:moveTo>
                  <a:pt x="4590923" y="0"/>
                </a:moveTo>
                <a:lnTo>
                  <a:pt x="0" y="0"/>
                </a:lnTo>
                <a:lnTo>
                  <a:pt x="0" y="172516"/>
                </a:lnTo>
                <a:lnTo>
                  <a:pt x="4590923" y="172516"/>
                </a:lnTo>
                <a:lnTo>
                  <a:pt x="45909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3285" y="911686"/>
            <a:ext cx="6734257" cy="904222"/>
          </a:xfrm>
          <a:prstGeom prst="rect">
            <a:avLst/>
          </a:prstGeom>
        </p:spPr>
        <p:txBody>
          <a:bodyPr vert="horz" wrap="square" lIns="0" tIns="14605" rIns="0" bIns="0" rtlCol="0" anchor="t">
            <a:spAutoFit/>
          </a:bodyPr>
          <a:lstStyle/>
          <a:p>
            <a:pPr marL="12700" marR="5080" algn="just">
              <a:lnSpc>
                <a:spcPct val="106100"/>
              </a:lnSpc>
              <a:spcBef>
                <a:spcPts val="115"/>
              </a:spcBef>
            </a:pPr>
            <a:r>
              <a:rPr sz="1100" dirty="0">
                <a:latin typeface="Calibri"/>
                <a:cs typeface="Calibri"/>
              </a:rPr>
              <a:t>En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apartado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realiza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planeación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acompañamientos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distancia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olviden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tener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cuenta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intencionalidad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estar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ligada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prácticas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acciones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priorizadas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trimestre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trabajo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y</a:t>
            </a:r>
            <a:r>
              <a:rPr sz="1100" dirty="0">
                <a:latin typeface="Calibri"/>
                <a:cs typeface="Calibri"/>
              </a:rPr>
              <a:t> que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cuando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hacen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través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llamada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telefónica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contemplar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tres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momentos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metodológicos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definidos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lang="es-MX" sz="1100" spc="-25" dirty="0">
                <a:latin typeface="Calibri"/>
                <a:cs typeface="Calibri"/>
              </a:rPr>
              <a:t> la Guía Operativa del servicio Educación Inicial Campesina</a:t>
            </a:r>
            <a:r>
              <a:rPr lang="es-MX" sz="1100" spc="-10" dirty="0">
                <a:latin typeface="Calibri"/>
                <a:cs typeface="Calibri"/>
              </a:rPr>
              <a:t> y Cartilla Viajes en Familia</a:t>
            </a:r>
            <a:r>
              <a:rPr lang="es-ES" sz="1100" spc="-10" dirty="0">
                <a:latin typeface="Calibri"/>
                <a:cs typeface="Calibri"/>
              </a:rPr>
              <a:t>. (Duplicar este apartado las veces que sea necesario)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776" y="1765147"/>
            <a:ext cx="1054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b="1" spc="-10" dirty="0" err="1">
                <a:latin typeface="Calibri"/>
                <a:cs typeface="Calibri"/>
              </a:rPr>
              <a:t>Acompañamiento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 </a:t>
            </a:r>
            <a:r>
              <a:rPr sz="1100" b="1" spc="-10" dirty="0" err="1">
                <a:latin typeface="Calibri"/>
                <a:cs typeface="Calibri"/>
              </a:rPr>
              <a:t>distancia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 err="1">
                <a:latin typeface="Calibri"/>
                <a:cs typeface="Calibri"/>
              </a:rPr>
              <a:t>Nro</a:t>
            </a:r>
            <a:r>
              <a:rPr sz="1100" b="1" spc="-2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67877" y="1855406"/>
            <a:ext cx="1254760" cy="308610"/>
            <a:chOff x="2067877" y="1855406"/>
            <a:chExt cx="1254760" cy="308610"/>
          </a:xfrm>
        </p:grpSpPr>
        <p:sp>
          <p:nvSpPr>
            <p:cNvPr id="10" name="object 10"/>
            <p:cNvSpPr/>
            <p:nvPr/>
          </p:nvSpPr>
          <p:spPr>
            <a:xfrm>
              <a:off x="2072639" y="1860169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1245235" y="0"/>
                  </a:moveTo>
                  <a:lnTo>
                    <a:pt x="0" y="0"/>
                  </a:lnTo>
                  <a:lnTo>
                    <a:pt x="0" y="299084"/>
                  </a:lnTo>
                  <a:lnTo>
                    <a:pt x="1245235" y="299084"/>
                  </a:lnTo>
                  <a:lnTo>
                    <a:pt x="124523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072639" y="1860169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0" y="299084"/>
                  </a:moveTo>
                  <a:lnTo>
                    <a:pt x="1245235" y="299084"/>
                  </a:lnTo>
                  <a:lnTo>
                    <a:pt x="1245235" y="0"/>
                  </a:lnTo>
                  <a:lnTo>
                    <a:pt x="0" y="0"/>
                  </a:lnTo>
                  <a:lnTo>
                    <a:pt x="0" y="299084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87978" y="1894077"/>
            <a:ext cx="361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>
                <a:latin typeface="Calibri"/>
                <a:cs typeface="Calibri"/>
              </a:rPr>
              <a:t>Fecha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41432" y="1855406"/>
            <a:ext cx="1270635" cy="307975"/>
            <a:chOff x="3841432" y="1855406"/>
            <a:chExt cx="1270635" cy="307975"/>
          </a:xfrm>
        </p:grpSpPr>
        <p:sp>
          <p:nvSpPr>
            <p:cNvPr id="14" name="object 14"/>
            <p:cNvSpPr/>
            <p:nvPr/>
          </p:nvSpPr>
          <p:spPr>
            <a:xfrm>
              <a:off x="3846195" y="1860169"/>
              <a:ext cx="1261110" cy="298450"/>
            </a:xfrm>
            <a:custGeom>
              <a:avLst/>
              <a:gdLst/>
              <a:ahLst/>
              <a:cxnLst/>
              <a:rect l="l" t="t" r="r" b="b"/>
              <a:pathLst>
                <a:path w="1261110" h="298450">
                  <a:moveTo>
                    <a:pt x="1261110" y="0"/>
                  </a:moveTo>
                  <a:lnTo>
                    <a:pt x="0" y="0"/>
                  </a:lnTo>
                  <a:lnTo>
                    <a:pt x="0" y="298450"/>
                  </a:lnTo>
                  <a:lnTo>
                    <a:pt x="1261110" y="298450"/>
                  </a:lnTo>
                  <a:lnTo>
                    <a:pt x="12611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6195" y="1860169"/>
              <a:ext cx="1261110" cy="298450"/>
            </a:xfrm>
            <a:custGeom>
              <a:avLst/>
              <a:gdLst/>
              <a:ahLst/>
              <a:cxnLst/>
              <a:rect l="l" t="t" r="r" b="b"/>
              <a:pathLst>
                <a:path w="1261110" h="298450">
                  <a:moveTo>
                    <a:pt x="0" y="298450"/>
                  </a:moveTo>
                  <a:lnTo>
                    <a:pt x="1261110" y="298450"/>
                  </a:lnTo>
                  <a:lnTo>
                    <a:pt x="1261110" y="0"/>
                  </a:lnTo>
                  <a:lnTo>
                    <a:pt x="0" y="0"/>
                  </a:lnTo>
                  <a:lnTo>
                    <a:pt x="0" y="29845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94172" y="1913889"/>
            <a:ext cx="306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>
                <a:latin typeface="Calibri"/>
                <a:cs typeface="Calibri"/>
              </a:rPr>
              <a:t>Hora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03875" y="1860169"/>
            <a:ext cx="1481455" cy="313690"/>
            <a:chOff x="5603875" y="1860169"/>
            <a:chExt cx="1481455" cy="313690"/>
          </a:xfrm>
        </p:grpSpPr>
        <p:sp>
          <p:nvSpPr>
            <p:cNvPr id="18" name="object 18"/>
            <p:cNvSpPr/>
            <p:nvPr/>
          </p:nvSpPr>
          <p:spPr>
            <a:xfrm>
              <a:off x="5603875" y="1860169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1481454" y="0"/>
                  </a:moveTo>
                  <a:lnTo>
                    <a:pt x="0" y="0"/>
                  </a:lnTo>
                  <a:lnTo>
                    <a:pt x="0" y="313690"/>
                  </a:lnTo>
                  <a:lnTo>
                    <a:pt x="1481454" y="313690"/>
                  </a:lnTo>
                  <a:lnTo>
                    <a:pt x="1481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s-CO" sz="1200" dirty="0"/>
                <a:t> </a:t>
              </a:r>
              <a:endParaRPr sz="120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3875" y="1860169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0" y="313690"/>
                  </a:moveTo>
                  <a:lnTo>
                    <a:pt x="1481454" y="313690"/>
                  </a:lnTo>
                  <a:lnTo>
                    <a:pt x="1481454" y="0"/>
                  </a:lnTo>
                  <a:lnTo>
                    <a:pt x="0" y="0"/>
                  </a:lnTo>
                  <a:lnTo>
                    <a:pt x="0" y="31369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739873"/>
              </p:ext>
            </p:extLst>
          </p:nvPr>
        </p:nvGraphicFramePr>
        <p:xfrm>
          <a:off x="890557" y="2303526"/>
          <a:ext cx="6527800" cy="994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5080">
                        <a:lnSpc>
                          <a:spcPts val="1245"/>
                        </a:lnSpc>
                        <a:spcBef>
                          <a:spcPts val="20"/>
                        </a:spcBef>
                      </a:pP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TALENTO</a:t>
                      </a:r>
                      <a:r>
                        <a:rPr sz="12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HUMANO</a:t>
                      </a:r>
                      <a:r>
                        <a:rPr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solidFill>
                      <a:srgbClr val="7E7E7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3598545" algn="l"/>
                        </a:tabLst>
                      </a:pPr>
                      <a:r>
                        <a:rPr lang="es-CO"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JIMENA GÓMEZ CIRO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Rol: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2308860" algn="l"/>
                        </a:tabLst>
                      </a:pPr>
                      <a:r>
                        <a:rPr lang="es-419" sz="1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  Agente Educativo</a:t>
                      </a:r>
                      <a:r>
                        <a:rPr sz="1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1270">
                        <a:lnSpc>
                          <a:spcPts val="1330"/>
                        </a:lnSpc>
                        <a:tabLst>
                          <a:tab pos="3598545" algn="l"/>
                        </a:tabLst>
                      </a:pPr>
                      <a:r>
                        <a:rPr sz="1200" u="sng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330"/>
                        </a:lnSpc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Rol: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1330"/>
                        </a:lnSpc>
                        <a:tabLst>
                          <a:tab pos="2307590" algn="l"/>
                        </a:tabLst>
                      </a:pPr>
                      <a:r>
                        <a:rPr sz="1200" u="sng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INTENCIONALIDAD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890905" y="3389376"/>
            <a:ext cx="6527800" cy="1371600"/>
          </a:xfrm>
          <a:custGeom>
            <a:avLst/>
            <a:gdLst/>
            <a:ahLst/>
            <a:cxnLst/>
            <a:rect l="l" t="t" r="r" b="b"/>
            <a:pathLst>
              <a:path w="6527800" h="1371600">
                <a:moveTo>
                  <a:pt x="0" y="1371600"/>
                </a:moveTo>
                <a:lnTo>
                  <a:pt x="6527800" y="1371600"/>
                </a:lnTo>
                <a:lnTo>
                  <a:pt x="65278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9160" y="486638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905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5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PEDAGÓGICA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PROMOVER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78522" y="5166296"/>
            <a:ext cx="4660265" cy="4109720"/>
            <a:chOff x="878522" y="5166296"/>
            <a:chExt cx="4660265" cy="4109720"/>
          </a:xfrm>
        </p:grpSpPr>
        <p:sp>
          <p:nvSpPr>
            <p:cNvPr id="24" name="object 24"/>
            <p:cNvSpPr/>
            <p:nvPr/>
          </p:nvSpPr>
          <p:spPr>
            <a:xfrm>
              <a:off x="883285" y="5171059"/>
              <a:ext cx="4650740" cy="4100195"/>
            </a:xfrm>
            <a:custGeom>
              <a:avLst/>
              <a:gdLst/>
              <a:ahLst/>
              <a:cxnLst/>
              <a:rect l="l" t="t" r="r" b="b"/>
              <a:pathLst>
                <a:path w="4650740" h="4100195">
                  <a:moveTo>
                    <a:pt x="4650740" y="0"/>
                  </a:moveTo>
                  <a:lnTo>
                    <a:pt x="0" y="0"/>
                  </a:lnTo>
                  <a:lnTo>
                    <a:pt x="0" y="4100195"/>
                  </a:lnTo>
                  <a:lnTo>
                    <a:pt x="4650740" y="4100195"/>
                  </a:lnTo>
                  <a:lnTo>
                    <a:pt x="4650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3285" y="5171059"/>
              <a:ext cx="4650740" cy="4100195"/>
            </a:xfrm>
            <a:custGeom>
              <a:avLst/>
              <a:gdLst/>
              <a:ahLst/>
              <a:cxnLst/>
              <a:rect l="l" t="t" r="r" b="b"/>
              <a:pathLst>
                <a:path w="4650740" h="4100195">
                  <a:moveTo>
                    <a:pt x="0" y="4100195"/>
                  </a:moveTo>
                  <a:lnTo>
                    <a:pt x="4650740" y="4100195"/>
                  </a:lnTo>
                  <a:lnTo>
                    <a:pt x="4650740" y="0"/>
                  </a:lnTo>
                  <a:lnTo>
                    <a:pt x="0" y="0"/>
                  </a:lnTo>
                  <a:lnTo>
                    <a:pt x="0" y="41001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0236" y="5204840"/>
            <a:ext cx="1704339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/>
                <a:cs typeface="Calibri"/>
              </a:rPr>
              <a:t>Descripción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la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experiencia: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33707" y="5171059"/>
            <a:ext cx="1898650" cy="41001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70"/>
              </a:spcBef>
            </a:pPr>
            <a:r>
              <a:rPr sz="1100">
                <a:latin typeface="Calibri"/>
                <a:cs typeface="Calibri"/>
              </a:rPr>
              <a:t>Tiempo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estimado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10">
                <a:latin typeface="Calibri"/>
                <a:cs typeface="Calibri"/>
              </a:rPr>
              <a:t> recursos: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D47D3B40-C1B6-EC5D-3C71-40138D8A9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806011"/>
              </p:ext>
            </p:extLst>
          </p:nvPr>
        </p:nvGraphicFramePr>
        <p:xfrm>
          <a:off x="936547" y="3423792"/>
          <a:ext cx="6481809" cy="1337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80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33718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s-ES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E4639793-D2F3-B3D1-C41D-62F2335F8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23539"/>
              </p:ext>
            </p:extLst>
          </p:nvPr>
        </p:nvGraphicFramePr>
        <p:xfrm>
          <a:off x="965773" y="5497448"/>
          <a:ext cx="4456874" cy="2618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6874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618679"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415172E4-3EBA-460E-1D2B-F46A71BDD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776796"/>
              </p:ext>
            </p:extLst>
          </p:nvPr>
        </p:nvGraphicFramePr>
        <p:xfrm>
          <a:off x="5630976" y="5565690"/>
          <a:ext cx="1690320" cy="365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032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654510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870791"/>
            <a:ext cx="179536" cy="287486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1282" y="7777733"/>
            <a:ext cx="5476240" cy="3435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805305" marR="5080" indent="-1792605">
              <a:lnSpc>
                <a:spcPts val="1240"/>
              </a:lnSpc>
              <a:spcBef>
                <a:spcPts val="165"/>
              </a:spcBef>
            </a:pPr>
            <a:r>
              <a:rPr sz="1050">
                <a:latin typeface="Arial"/>
                <a:cs typeface="Arial"/>
              </a:rPr>
              <a:t>Si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incluyes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objetos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del</a:t>
            </a:r>
            <a:r>
              <a:rPr sz="1050" spc="-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paquete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didáctico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familiar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las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experiencias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explicar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cuáles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y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15">
                <a:latin typeface="Arial"/>
                <a:cs typeface="Arial"/>
              </a:rPr>
              <a:t> </a:t>
            </a:r>
            <a:r>
              <a:rPr sz="1050" spc="-25">
                <a:latin typeface="Arial"/>
                <a:cs typeface="Arial"/>
              </a:rPr>
              <a:t>qué </a:t>
            </a:r>
            <a:r>
              <a:rPr sz="1050" spc="-10">
                <a:latin typeface="Arial"/>
                <a:cs typeface="Arial"/>
              </a:rPr>
              <a:t>momento</a:t>
            </a:r>
            <a:r>
              <a:rPr sz="1050" spc="-6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se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promoverá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su</a:t>
            </a:r>
            <a:r>
              <a:rPr sz="1050" spc="-20">
                <a:latin typeface="Arial"/>
                <a:cs typeface="Arial"/>
              </a:rPr>
              <a:t> uso: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9637" y="8161566"/>
            <a:ext cx="6558915" cy="1087120"/>
            <a:chOff x="909637" y="8161566"/>
            <a:chExt cx="6558915" cy="1087120"/>
          </a:xfrm>
        </p:grpSpPr>
        <p:sp>
          <p:nvSpPr>
            <p:cNvPr id="5" name="object 5"/>
            <p:cNvSpPr/>
            <p:nvPr/>
          </p:nvSpPr>
          <p:spPr>
            <a:xfrm>
              <a:off x="914400" y="8166328"/>
              <a:ext cx="6549390" cy="1077595"/>
            </a:xfrm>
            <a:custGeom>
              <a:avLst/>
              <a:gdLst/>
              <a:ahLst/>
              <a:cxnLst/>
              <a:rect l="l" t="t" r="r" b="b"/>
              <a:pathLst>
                <a:path w="6549390" h="1077595">
                  <a:moveTo>
                    <a:pt x="6549390" y="0"/>
                  </a:moveTo>
                  <a:lnTo>
                    <a:pt x="0" y="0"/>
                  </a:lnTo>
                  <a:lnTo>
                    <a:pt x="0" y="1077594"/>
                  </a:lnTo>
                  <a:lnTo>
                    <a:pt x="6549390" y="1077594"/>
                  </a:lnTo>
                  <a:lnTo>
                    <a:pt x="6549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8166328"/>
              <a:ext cx="6549390" cy="1077595"/>
            </a:xfrm>
            <a:custGeom>
              <a:avLst/>
              <a:gdLst/>
              <a:ahLst/>
              <a:cxnLst/>
              <a:rect l="l" t="t" r="r" b="b"/>
              <a:pathLst>
                <a:path w="6549390" h="1077595">
                  <a:moveTo>
                    <a:pt x="0" y="1077594"/>
                  </a:moveTo>
                  <a:lnTo>
                    <a:pt x="6549390" y="1077594"/>
                  </a:lnTo>
                  <a:lnTo>
                    <a:pt x="6549390" y="0"/>
                  </a:lnTo>
                  <a:lnTo>
                    <a:pt x="0" y="0"/>
                  </a:lnTo>
                  <a:lnTo>
                    <a:pt x="0" y="107759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09637" y="936307"/>
            <a:ext cx="4660265" cy="6819265"/>
            <a:chOff x="909637" y="936307"/>
            <a:chExt cx="4660265" cy="6819265"/>
          </a:xfrm>
        </p:grpSpPr>
        <p:sp>
          <p:nvSpPr>
            <p:cNvPr id="8" name="object 8"/>
            <p:cNvSpPr/>
            <p:nvPr/>
          </p:nvSpPr>
          <p:spPr>
            <a:xfrm>
              <a:off x="914400" y="941069"/>
              <a:ext cx="4650740" cy="6809740"/>
            </a:xfrm>
            <a:custGeom>
              <a:avLst/>
              <a:gdLst/>
              <a:ahLst/>
              <a:cxnLst/>
              <a:rect l="l" t="t" r="r" b="b"/>
              <a:pathLst>
                <a:path w="4650740" h="6809740">
                  <a:moveTo>
                    <a:pt x="4650740" y="0"/>
                  </a:moveTo>
                  <a:lnTo>
                    <a:pt x="0" y="0"/>
                  </a:lnTo>
                  <a:lnTo>
                    <a:pt x="0" y="6809740"/>
                  </a:lnTo>
                  <a:lnTo>
                    <a:pt x="4650740" y="6809740"/>
                  </a:lnTo>
                  <a:lnTo>
                    <a:pt x="4650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4400" y="941069"/>
              <a:ext cx="4650740" cy="6809740"/>
            </a:xfrm>
            <a:custGeom>
              <a:avLst/>
              <a:gdLst/>
              <a:ahLst/>
              <a:cxnLst/>
              <a:rect l="l" t="t" r="r" b="b"/>
              <a:pathLst>
                <a:path w="4650740" h="6809740">
                  <a:moveTo>
                    <a:pt x="0" y="6809740"/>
                  </a:moveTo>
                  <a:lnTo>
                    <a:pt x="4650740" y="6809740"/>
                  </a:lnTo>
                  <a:lnTo>
                    <a:pt x="4650740" y="0"/>
                  </a:lnTo>
                  <a:lnTo>
                    <a:pt x="0" y="0"/>
                  </a:lnTo>
                  <a:lnTo>
                    <a:pt x="0" y="68097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8016" y="972058"/>
            <a:ext cx="171703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/>
                <a:cs typeface="Calibri"/>
              </a:rPr>
              <a:t>Descripción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la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experiencia: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7679" y="941069"/>
            <a:ext cx="1898650" cy="6809740"/>
          </a:xfrm>
          <a:custGeom>
            <a:avLst/>
            <a:gdLst/>
            <a:ahLst/>
            <a:cxnLst/>
            <a:rect l="l" t="t" r="r" b="b"/>
            <a:pathLst>
              <a:path w="1898650" h="6809740">
                <a:moveTo>
                  <a:pt x="0" y="6809740"/>
                </a:moveTo>
                <a:lnTo>
                  <a:pt x="1898650" y="6809740"/>
                </a:lnTo>
                <a:lnTo>
                  <a:pt x="1898650" y="0"/>
                </a:lnTo>
                <a:lnTo>
                  <a:pt x="0" y="0"/>
                </a:lnTo>
                <a:lnTo>
                  <a:pt x="0" y="680974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51372" y="972058"/>
            <a:ext cx="165988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/>
                <a:cs typeface="Calibri"/>
              </a:rPr>
              <a:t>Tiempo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estimado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10">
                <a:latin typeface="Calibri"/>
                <a:cs typeface="Calibri"/>
              </a:rPr>
              <a:t> recursos: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58" y="874356"/>
            <a:ext cx="353568" cy="82994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30205" y="1151252"/>
            <a:ext cx="286104" cy="771669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45616" y="1930"/>
            <a:ext cx="348234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t>Planear</a:t>
            </a:r>
            <a:r>
              <a:rPr spc="-35"/>
              <a:t> </a:t>
            </a:r>
            <a:r>
              <a:t>–</a:t>
            </a:r>
            <a:r>
              <a:rPr spc="-30"/>
              <a:t> </a:t>
            </a:r>
            <a:r>
              <a:rPr spc="-10"/>
              <a:t>acompañamiento</a:t>
            </a:r>
            <a:r>
              <a:rPr spc="-35"/>
              <a:t> </a:t>
            </a:r>
            <a:r>
              <a:rPr spc="-50"/>
              <a:t>a </a:t>
            </a:r>
            <a:r>
              <a:rPr spc="-10"/>
              <a:t>distancia: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ABEFED00-C6CC-537E-9F35-03A636DF3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54001"/>
              </p:ext>
            </p:extLst>
          </p:nvPr>
        </p:nvGraphicFramePr>
        <p:xfrm>
          <a:off x="1080656" y="1440873"/>
          <a:ext cx="4285672" cy="609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567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6096000">
                <a:tc>
                  <a:txBody>
                    <a:bodyPr/>
                    <a:lstStyle/>
                    <a:p>
                      <a:pPr algn="just"/>
                      <a:endParaRPr lang="es-CO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F7C3E33-28D6-E73B-6276-2805150E0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770216"/>
              </p:ext>
            </p:extLst>
          </p:nvPr>
        </p:nvGraphicFramePr>
        <p:xfrm>
          <a:off x="5651372" y="1295401"/>
          <a:ext cx="1659889" cy="6147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988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614702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s-ES" sz="12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16D6908-69DD-0BCA-D433-F73650C9D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330898"/>
              </p:ext>
            </p:extLst>
          </p:nvPr>
        </p:nvGraphicFramePr>
        <p:xfrm>
          <a:off x="918261" y="8163204"/>
          <a:ext cx="6545529" cy="108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55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080720">
                <a:tc>
                  <a:txBody>
                    <a:bodyPr/>
                    <a:lstStyle/>
                    <a:p>
                      <a:endParaRPr lang="es-CO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955851"/>
            <a:ext cx="179536" cy="278980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011" y="768120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4785" y="1151077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8288" y="8025"/>
            <a:ext cx="348234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dirty="0" err="1"/>
              <a:t>Planear</a:t>
            </a:r>
            <a:r>
              <a:rPr spc="-3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 err="1"/>
              <a:t>acompañamiento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10" dirty="0" err="1"/>
              <a:t>distancia</a:t>
            </a:r>
            <a:r>
              <a:rPr spc="-10" dirty="0"/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969568" y="978357"/>
            <a:ext cx="4591050" cy="172720"/>
          </a:xfrm>
          <a:custGeom>
            <a:avLst/>
            <a:gdLst/>
            <a:ahLst/>
            <a:cxnLst/>
            <a:rect l="l" t="t" r="r" b="b"/>
            <a:pathLst>
              <a:path w="4591050" h="172719">
                <a:moveTo>
                  <a:pt x="4590923" y="0"/>
                </a:moveTo>
                <a:lnTo>
                  <a:pt x="0" y="0"/>
                </a:lnTo>
                <a:lnTo>
                  <a:pt x="0" y="172516"/>
                </a:lnTo>
                <a:lnTo>
                  <a:pt x="4590923" y="172516"/>
                </a:lnTo>
                <a:lnTo>
                  <a:pt x="45909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3285" y="911686"/>
            <a:ext cx="6734257" cy="904222"/>
          </a:xfrm>
          <a:prstGeom prst="rect">
            <a:avLst/>
          </a:prstGeom>
        </p:spPr>
        <p:txBody>
          <a:bodyPr vert="horz" wrap="square" lIns="0" tIns="14605" rIns="0" bIns="0" rtlCol="0" anchor="t">
            <a:spAutoFit/>
          </a:bodyPr>
          <a:lstStyle/>
          <a:p>
            <a:pPr marL="12700" marR="5080" algn="just">
              <a:lnSpc>
                <a:spcPct val="106100"/>
              </a:lnSpc>
              <a:spcBef>
                <a:spcPts val="115"/>
              </a:spcBef>
            </a:pPr>
            <a:r>
              <a:rPr sz="1100" dirty="0">
                <a:latin typeface="Calibri"/>
                <a:cs typeface="Calibri"/>
              </a:rPr>
              <a:t>En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apartado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realiza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planeación</a:t>
            </a:r>
            <a:r>
              <a:rPr sz="1100" spc="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acompañamientos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distancia</a:t>
            </a:r>
            <a:r>
              <a:rPr sz="1100" dirty="0">
                <a:latin typeface="Calibri"/>
                <a:cs typeface="Calibri"/>
              </a:rPr>
              <a:t>.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No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olviden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tener</a:t>
            </a:r>
            <a:r>
              <a:rPr sz="1100" spc="27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cuenta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intencionalidad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</a:t>
            </a:r>
            <a:r>
              <a:rPr sz="1100" spc="24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estar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ligada</a:t>
            </a:r>
            <a:r>
              <a:rPr sz="1100" spc="2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20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prácticas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acciones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priorizadas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trimestre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trabajo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y</a:t>
            </a:r>
            <a:r>
              <a:rPr sz="1100" dirty="0">
                <a:latin typeface="Calibri"/>
                <a:cs typeface="Calibri"/>
              </a:rPr>
              <a:t> que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cuando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hacen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través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llamada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telefónica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deben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contemplar</a:t>
            </a:r>
            <a:r>
              <a:rPr sz="1100" spc="6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los</a:t>
            </a:r>
            <a:r>
              <a:rPr sz="1100" spc="5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tres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momentos</a:t>
            </a:r>
            <a:r>
              <a:rPr sz="1100" spc="55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metodológicos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10" dirty="0" err="1">
                <a:latin typeface="Calibri"/>
                <a:cs typeface="Calibri"/>
              </a:rPr>
              <a:t>definidos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 err="1">
                <a:latin typeface="Calibri"/>
                <a:cs typeface="Calibri"/>
              </a:rPr>
              <a:t>en</a:t>
            </a:r>
            <a:r>
              <a:rPr lang="es-MX" sz="1100" spc="-25" dirty="0">
                <a:latin typeface="Calibri"/>
                <a:cs typeface="Calibri"/>
              </a:rPr>
              <a:t> la Guía Operativa del servicio Educación Inicial Campesina</a:t>
            </a:r>
            <a:r>
              <a:rPr lang="es-MX" sz="1100" spc="-10" dirty="0">
                <a:latin typeface="Calibri"/>
                <a:cs typeface="Calibri"/>
              </a:rPr>
              <a:t> y Cartilla Viajes en Familia</a:t>
            </a:r>
            <a:r>
              <a:rPr lang="es-ES" sz="1100" spc="-10" dirty="0">
                <a:latin typeface="Calibri"/>
                <a:cs typeface="Calibri"/>
              </a:rPr>
              <a:t>. (Duplicar este apartado las veces que sea necesario)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776" y="1765147"/>
            <a:ext cx="1054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 b="1" spc="-10" dirty="0" err="1">
                <a:latin typeface="Calibri"/>
                <a:cs typeface="Calibri"/>
              </a:rPr>
              <a:t>Acompañamiento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 </a:t>
            </a:r>
            <a:r>
              <a:rPr sz="1100" b="1" spc="-10" dirty="0" err="1">
                <a:latin typeface="Calibri"/>
                <a:cs typeface="Calibri"/>
              </a:rPr>
              <a:t>distancia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 err="1">
                <a:latin typeface="Calibri"/>
                <a:cs typeface="Calibri"/>
              </a:rPr>
              <a:t>Nro</a:t>
            </a:r>
            <a:r>
              <a:rPr sz="1100" b="1" spc="-2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67877" y="1855406"/>
            <a:ext cx="1254760" cy="308610"/>
            <a:chOff x="2067877" y="1855406"/>
            <a:chExt cx="1254760" cy="308610"/>
          </a:xfrm>
        </p:grpSpPr>
        <p:sp>
          <p:nvSpPr>
            <p:cNvPr id="10" name="object 10"/>
            <p:cNvSpPr/>
            <p:nvPr/>
          </p:nvSpPr>
          <p:spPr>
            <a:xfrm>
              <a:off x="2072639" y="1860169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1245235" y="0"/>
                  </a:moveTo>
                  <a:lnTo>
                    <a:pt x="0" y="0"/>
                  </a:lnTo>
                  <a:lnTo>
                    <a:pt x="0" y="299084"/>
                  </a:lnTo>
                  <a:lnTo>
                    <a:pt x="1245235" y="299084"/>
                  </a:lnTo>
                  <a:lnTo>
                    <a:pt x="124523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072639" y="1860169"/>
              <a:ext cx="1245235" cy="299085"/>
            </a:xfrm>
            <a:custGeom>
              <a:avLst/>
              <a:gdLst/>
              <a:ahLst/>
              <a:cxnLst/>
              <a:rect l="l" t="t" r="r" b="b"/>
              <a:pathLst>
                <a:path w="1245235" h="299085">
                  <a:moveTo>
                    <a:pt x="0" y="299084"/>
                  </a:moveTo>
                  <a:lnTo>
                    <a:pt x="1245235" y="299084"/>
                  </a:lnTo>
                  <a:lnTo>
                    <a:pt x="1245235" y="0"/>
                  </a:lnTo>
                  <a:lnTo>
                    <a:pt x="0" y="0"/>
                  </a:lnTo>
                  <a:lnTo>
                    <a:pt x="0" y="299084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87978" y="1894077"/>
            <a:ext cx="3619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>
                <a:latin typeface="Calibri"/>
                <a:cs typeface="Calibri"/>
              </a:rPr>
              <a:t>Fecha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41432" y="1855406"/>
            <a:ext cx="1270635" cy="307975"/>
            <a:chOff x="3841432" y="1855406"/>
            <a:chExt cx="1270635" cy="307975"/>
          </a:xfrm>
        </p:grpSpPr>
        <p:sp>
          <p:nvSpPr>
            <p:cNvPr id="14" name="object 14"/>
            <p:cNvSpPr/>
            <p:nvPr/>
          </p:nvSpPr>
          <p:spPr>
            <a:xfrm>
              <a:off x="3846195" y="1860169"/>
              <a:ext cx="1261110" cy="298450"/>
            </a:xfrm>
            <a:custGeom>
              <a:avLst/>
              <a:gdLst/>
              <a:ahLst/>
              <a:cxnLst/>
              <a:rect l="l" t="t" r="r" b="b"/>
              <a:pathLst>
                <a:path w="1261110" h="298450">
                  <a:moveTo>
                    <a:pt x="1261110" y="0"/>
                  </a:moveTo>
                  <a:lnTo>
                    <a:pt x="0" y="0"/>
                  </a:lnTo>
                  <a:lnTo>
                    <a:pt x="0" y="298450"/>
                  </a:lnTo>
                  <a:lnTo>
                    <a:pt x="1261110" y="298450"/>
                  </a:lnTo>
                  <a:lnTo>
                    <a:pt x="12611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endParaRPr sz="120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6195" y="1860169"/>
              <a:ext cx="1261110" cy="298450"/>
            </a:xfrm>
            <a:custGeom>
              <a:avLst/>
              <a:gdLst/>
              <a:ahLst/>
              <a:cxnLst/>
              <a:rect l="l" t="t" r="r" b="b"/>
              <a:pathLst>
                <a:path w="1261110" h="298450">
                  <a:moveTo>
                    <a:pt x="0" y="298450"/>
                  </a:moveTo>
                  <a:lnTo>
                    <a:pt x="1261110" y="298450"/>
                  </a:lnTo>
                  <a:lnTo>
                    <a:pt x="1261110" y="0"/>
                  </a:lnTo>
                  <a:lnTo>
                    <a:pt x="0" y="0"/>
                  </a:lnTo>
                  <a:lnTo>
                    <a:pt x="0" y="29845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94172" y="1913889"/>
            <a:ext cx="306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>
                <a:latin typeface="Calibri"/>
                <a:cs typeface="Calibri"/>
              </a:rPr>
              <a:t>Hora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03875" y="1860169"/>
            <a:ext cx="1481455" cy="313690"/>
            <a:chOff x="5603875" y="1860169"/>
            <a:chExt cx="1481455" cy="313690"/>
          </a:xfrm>
        </p:grpSpPr>
        <p:sp>
          <p:nvSpPr>
            <p:cNvPr id="18" name="object 18"/>
            <p:cNvSpPr/>
            <p:nvPr/>
          </p:nvSpPr>
          <p:spPr>
            <a:xfrm>
              <a:off x="5603875" y="1860169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1481454" y="0"/>
                  </a:moveTo>
                  <a:lnTo>
                    <a:pt x="0" y="0"/>
                  </a:lnTo>
                  <a:lnTo>
                    <a:pt x="0" y="313690"/>
                  </a:lnTo>
                  <a:lnTo>
                    <a:pt x="1481454" y="313690"/>
                  </a:lnTo>
                  <a:lnTo>
                    <a:pt x="148145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s-CO" sz="1200" dirty="0"/>
                <a:t> pm</a:t>
              </a:r>
              <a:endParaRPr sz="120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3875" y="1860169"/>
              <a:ext cx="1481455" cy="313690"/>
            </a:xfrm>
            <a:custGeom>
              <a:avLst/>
              <a:gdLst/>
              <a:ahLst/>
              <a:cxnLst/>
              <a:rect l="l" t="t" r="r" b="b"/>
              <a:pathLst>
                <a:path w="1481454" h="313689">
                  <a:moveTo>
                    <a:pt x="0" y="313690"/>
                  </a:moveTo>
                  <a:lnTo>
                    <a:pt x="1481454" y="313690"/>
                  </a:lnTo>
                  <a:lnTo>
                    <a:pt x="1481454" y="0"/>
                  </a:lnTo>
                  <a:lnTo>
                    <a:pt x="0" y="0"/>
                  </a:lnTo>
                  <a:lnTo>
                    <a:pt x="0" y="31369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05430"/>
              </p:ext>
            </p:extLst>
          </p:nvPr>
        </p:nvGraphicFramePr>
        <p:xfrm>
          <a:off x="890557" y="2303526"/>
          <a:ext cx="6527800" cy="994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0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4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5080">
                        <a:lnSpc>
                          <a:spcPts val="1245"/>
                        </a:lnSpc>
                        <a:spcBef>
                          <a:spcPts val="20"/>
                        </a:spcBef>
                      </a:pP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TALENTO</a:t>
                      </a:r>
                      <a:r>
                        <a:rPr sz="12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HUMANO</a:t>
                      </a:r>
                      <a:r>
                        <a:rPr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solidFill>
                      <a:srgbClr val="7E7E7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3598545" algn="l"/>
                        </a:tabLst>
                      </a:pPr>
                      <a:r>
                        <a:rPr lang="es-CO"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JIMENA GÓMEZ CIRO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Rol: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2308860" algn="l"/>
                        </a:tabLst>
                      </a:pPr>
                      <a:r>
                        <a:rPr lang="es-419" sz="1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   Agente Educativo</a:t>
                      </a:r>
                      <a:r>
                        <a:rPr sz="14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339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1270">
                        <a:lnSpc>
                          <a:spcPts val="1330"/>
                        </a:lnSpc>
                        <a:tabLst>
                          <a:tab pos="3598545" algn="l"/>
                        </a:tabLst>
                      </a:pPr>
                      <a:r>
                        <a:rPr sz="1200" u="sng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1330"/>
                        </a:lnSpc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Rol: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1330"/>
                        </a:lnSpc>
                        <a:tabLst>
                          <a:tab pos="2307590" algn="l"/>
                        </a:tabLst>
                      </a:pPr>
                      <a:r>
                        <a:rPr sz="1200" u="sng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INTENCIONALIDAD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890905" y="3389376"/>
            <a:ext cx="6527800" cy="1371600"/>
          </a:xfrm>
          <a:custGeom>
            <a:avLst/>
            <a:gdLst/>
            <a:ahLst/>
            <a:cxnLst/>
            <a:rect l="l" t="t" r="r" b="b"/>
            <a:pathLst>
              <a:path w="6527800" h="1371600">
                <a:moveTo>
                  <a:pt x="0" y="1371600"/>
                </a:moveTo>
                <a:lnTo>
                  <a:pt x="6527800" y="1371600"/>
                </a:lnTo>
                <a:lnTo>
                  <a:pt x="65278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99160" y="486638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905" rIns="0" bIns="0" rtlCol="0">
            <a:spAutoFit/>
          </a:bodyPr>
          <a:lstStyle/>
          <a:p>
            <a:pPr marL="4445">
              <a:lnSpc>
                <a:spcPct val="100000"/>
              </a:lnSpc>
              <a:spcBef>
                <a:spcPts val="15"/>
              </a:spcBef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PEDAGÓGICA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PROMOVER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78522" y="5166296"/>
            <a:ext cx="4660265" cy="4109720"/>
            <a:chOff x="878522" y="5166296"/>
            <a:chExt cx="4660265" cy="4109720"/>
          </a:xfrm>
        </p:grpSpPr>
        <p:sp>
          <p:nvSpPr>
            <p:cNvPr id="24" name="object 24"/>
            <p:cNvSpPr/>
            <p:nvPr/>
          </p:nvSpPr>
          <p:spPr>
            <a:xfrm>
              <a:off x="883285" y="5171059"/>
              <a:ext cx="4650740" cy="4100195"/>
            </a:xfrm>
            <a:custGeom>
              <a:avLst/>
              <a:gdLst/>
              <a:ahLst/>
              <a:cxnLst/>
              <a:rect l="l" t="t" r="r" b="b"/>
              <a:pathLst>
                <a:path w="4650740" h="4100195">
                  <a:moveTo>
                    <a:pt x="4650740" y="0"/>
                  </a:moveTo>
                  <a:lnTo>
                    <a:pt x="0" y="0"/>
                  </a:lnTo>
                  <a:lnTo>
                    <a:pt x="0" y="4100195"/>
                  </a:lnTo>
                  <a:lnTo>
                    <a:pt x="4650740" y="4100195"/>
                  </a:lnTo>
                  <a:lnTo>
                    <a:pt x="4650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3285" y="5171059"/>
              <a:ext cx="4650740" cy="4100195"/>
            </a:xfrm>
            <a:custGeom>
              <a:avLst/>
              <a:gdLst/>
              <a:ahLst/>
              <a:cxnLst/>
              <a:rect l="l" t="t" r="r" b="b"/>
              <a:pathLst>
                <a:path w="4650740" h="4100195">
                  <a:moveTo>
                    <a:pt x="0" y="4100195"/>
                  </a:moveTo>
                  <a:lnTo>
                    <a:pt x="4650740" y="4100195"/>
                  </a:lnTo>
                  <a:lnTo>
                    <a:pt x="4650740" y="0"/>
                  </a:lnTo>
                  <a:lnTo>
                    <a:pt x="0" y="0"/>
                  </a:lnTo>
                  <a:lnTo>
                    <a:pt x="0" y="41001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0236" y="5204840"/>
            <a:ext cx="1704339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>
                <a:latin typeface="Calibri"/>
                <a:cs typeface="Calibri"/>
              </a:rPr>
              <a:t>Descripción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la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experiencia: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33707" y="5171059"/>
            <a:ext cx="1898650" cy="41001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70"/>
              </a:spcBef>
            </a:pPr>
            <a:r>
              <a:rPr sz="1100">
                <a:latin typeface="Calibri"/>
                <a:cs typeface="Calibri"/>
              </a:rPr>
              <a:t>Tiempo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estimado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10">
                <a:latin typeface="Calibri"/>
                <a:cs typeface="Calibri"/>
              </a:rPr>
              <a:t> recursos: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D47D3B40-C1B6-EC5D-3C71-40138D8A9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74775"/>
              </p:ext>
            </p:extLst>
          </p:nvPr>
        </p:nvGraphicFramePr>
        <p:xfrm>
          <a:off x="936547" y="3423792"/>
          <a:ext cx="6481809" cy="1337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180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337184">
                <a:tc>
                  <a:txBody>
                    <a:bodyPr/>
                    <a:lstStyle/>
                    <a:p>
                      <a:pPr algn="just"/>
                      <a:endParaRPr lang="es-E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E4639793-D2F3-B3D1-C41D-62F2335F8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922817"/>
              </p:ext>
            </p:extLst>
          </p:nvPr>
        </p:nvGraphicFramePr>
        <p:xfrm>
          <a:off x="948925" y="5440706"/>
          <a:ext cx="4519459" cy="3582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945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58259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endParaRPr lang="es-ES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415172E4-3EBA-460E-1D2B-F46A71BDD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274989"/>
              </p:ext>
            </p:extLst>
          </p:nvPr>
        </p:nvGraphicFramePr>
        <p:xfrm>
          <a:off x="5630976" y="5565690"/>
          <a:ext cx="1690320" cy="3654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032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654510"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51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870791"/>
            <a:ext cx="179536" cy="287486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1282" y="7777733"/>
            <a:ext cx="5476240" cy="3435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805305" marR="5080" indent="-1792605">
              <a:lnSpc>
                <a:spcPts val="1240"/>
              </a:lnSpc>
              <a:spcBef>
                <a:spcPts val="165"/>
              </a:spcBef>
            </a:pPr>
            <a:r>
              <a:rPr sz="1050">
                <a:latin typeface="Arial"/>
                <a:cs typeface="Arial"/>
              </a:rPr>
              <a:t>Si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incluyes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objetos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del</a:t>
            </a:r>
            <a:r>
              <a:rPr sz="1050" spc="-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paquete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didáctico</a:t>
            </a:r>
            <a:r>
              <a:rPr sz="1050" spc="-20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familiar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las</a:t>
            </a:r>
            <a:r>
              <a:rPr sz="1050" spc="-4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experiencias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 spc="-10">
                <a:latin typeface="Arial"/>
                <a:cs typeface="Arial"/>
              </a:rPr>
              <a:t>explicar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cuáles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y</a:t>
            </a:r>
            <a:r>
              <a:rPr sz="1050" spc="-3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en</a:t>
            </a:r>
            <a:r>
              <a:rPr sz="1050" spc="-15">
                <a:latin typeface="Arial"/>
                <a:cs typeface="Arial"/>
              </a:rPr>
              <a:t> </a:t>
            </a:r>
            <a:r>
              <a:rPr sz="1050" spc="-25">
                <a:latin typeface="Arial"/>
                <a:cs typeface="Arial"/>
              </a:rPr>
              <a:t>qué </a:t>
            </a:r>
            <a:r>
              <a:rPr sz="1050" spc="-10">
                <a:latin typeface="Arial"/>
                <a:cs typeface="Arial"/>
              </a:rPr>
              <a:t>momento</a:t>
            </a:r>
            <a:r>
              <a:rPr sz="1050" spc="-6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se</a:t>
            </a:r>
            <a:r>
              <a:rPr sz="1050" spc="-25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promoverá</a:t>
            </a:r>
            <a:r>
              <a:rPr sz="1050" spc="-30">
                <a:latin typeface="Arial"/>
                <a:cs typeface="Arial"/>
              </a:rPr>
              <a:t> </a:t>
            </a:r>
            <a:r>
              <a:rPr sz="1050">
                <a:latin typeface="Arial"/>
                <a:cs typeface="Arial"/>
              </a:rPr>
              <a:t>su</a:t>
            </a:r>
            <a:r>
              <a:rPr sz="1050" spc="-20">
                <a:latin typeface="Arial"/>
                <a:cs typeface="Arial"/>
              </a:rPr>
              <a:t> uso: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09637" y="8161566"/>
            <a:ext cx="6558915" cy="1087120"/>
            <a:chOff x="909637" y="8161566"/>
            <a:chExt cx="6558915" cy="1087120"/>
          </a:xfrm>
        </p:grpSpPr>
        <p:sp>
          <p:nvSpPr>
            <p:cNvPr id="5" name="object 5"/>
            <p:cNvSpPr/>
            <p:nvPr/>
          </p:nvSpPr>
          <p:spPr>
            <a:xfrm>
              <a:off x="914400" y="8166328"/>
              <a:ext cx="6549390" cy="1077595"/>
            </a:xfrm>
            <a:custGeom>
              <a:avLst/>
              <a:gdLst/>
              <a:ahLst/>
              <a:cxnLst/>
              <a:rect l="l" t="t" r="r" b="b"/>
              <a:pathLst>
                <a:path w="6549390" h="1077595">
                  <a:moveTo>
                    <a:pt x="6549390" y="0"/>
                  </a:moveTo>
                  <a:lnTo>
                    <a:pt x="0" y="0"/>
                  </a:lnTo>
                  <a:lnTo>
                    <a:pt x="0" y="1077594"/>
                  </a:lnTo>
                  <a:lnTo>
                    <a:pt x="6549390" y="1077594"/>
                  </a:lnTo>
                  <a:lnTo>
                    <a:pt x="6549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8166328"/>
              <a:ext cx="6549390" cy="1077595"/>
            </a:xfrm>
            <a:custGeom>
              <a:avLst/>
              <a:gdLst/>
              <a:ahLst/>
              <a:cxnLst/>
              <a:rect l="l" t="t" r="r" b="b"/>
              <a:pathLst>
                <a:path w="6549390" h="1077595">
                  <a:moveTo>
                    <a:pt x="0" y="1077594"/>
                  </a:moveTo>
                  <a:lnTo>
                    <a:pt x="6549390" y="1077594"/>
                  </a:lnTo>
                  <a:lnTo>
                    <a:pt x="6549390" y="0"/>
                  </a:lnTo>
                  <a:lnTo>
                    <a:pt x="0" y="0"/>
                  </a:lnTo>
                  <a:lnTo>
                    <a:pt x="0" y="107759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8016" y="972058"/>
            <a:ext cx="171703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/>
                <a:cs typeface="Calibri"/>
              </a:rPr>
              <a:t>Descripción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la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experiencia: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7679" y="941069"/>
            <a:ext cx="1898650" cy="6809740"/>
          </a:xfrm>
          <a:custGeom>
            <a:avLst/>
            <a:gdLst/>
            <a:ahLst/>
            <a:cxnLst/>
            <a:rect l="l" t="t" r="r" b="b"/>
            <a:pathLst>
              <a:path w="1898650" h="6809740">
                <a:moveTo>
                  <a:pt x="0" y="6809740"/>
                </a:moveTo>
                <a:lnTo>
                  <a:pt x="1898650" y="6809740"/>
                </a:lnTo>
                <a:lnTo>
                  <a:pt x="1898650" y="0"/>
                </a:lnTo>
                <a:lnTo>
                  <a:pt x="0" y="0"/>
                </a:lnTo>
                <a:lnTo>
                  <a:pt x="0" y="680974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51372" y="972058"/>
            <a:ext cx="165988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>
                <a:latin typeface="Calibri"/>
                <a:cs typeface="Calibri"/>
              </a:rPr>
              <a:t>Tiempo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estimado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10">
                <a:latin typeface="Calibri"/>
                <a:cs typeface="Calibri"/>
              </a:rPr>
              <a:t> recursos: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58" y="874356"/>
            <a:ext cx="353568" cy="82994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30205" y="1151252"/>
            <a:ext cx="286104" cy="771669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45616" y="1930"/>
            <a:ext cx="348234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t>Planear</a:t>
            </a:r>
            <a:r>
              <a:rPr spc="-35"/>
              <a:t> </a:t>
            </a:r>
            <a:r>
              <a:t>–</a:t>
            </a:r>
            <a:r>
              <a:rPr spc="-30"/>
              <a:t> </a:t>
            </a:r>
            <a:r>
              <a:rPr spc="-10"/>
              <a:t>acompañamiento</a:t>
            </a:r>
            <a:r>
              <a:rPr spc="-35"/>
              <a:t> </a:t>
            </a:r>
            <a:r>
              <a:rPr spc="-50"/>
              <a:t>a </a:t>
            </a:r>
            <a:r>
              <a:rPr spc="-10"/>
              <a:t>distancia: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ABEFED00-C6CC-537E-9F35-03A636DF3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14092"/>
              </p:ext>
            </p:extLst>
          </p:nvPr>
        </p:nvGraphicFramePr>
        <p:xfrm>
          <a:off x="981069" y="1260225"/>
          <a:ext cx="4285672" cy="29792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5672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979266">
                <a:tc>
                  <a:txBody>
                    <a:bodyPr/>
                    <a:lstStyle/>
                    <a:p>
                      <a:pPr algn="just"/>
                      <a:endParaRPr lang="es-CO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F7C3E33-28D6-E73B-6276-2805150E0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962904"/>
              </p:ext>
            </p:extLst>
          </p:nvPr>
        </p:nvGraphicFramePr>
        <p:xfrm>
          <a:off x="5651372" y="1295401"/>
          <a:ext cx="1659889" cy="6147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988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614702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s-ES" sz="12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C16D6908-69DD-0BCA-D433-F73650C9D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1852"/>
              </p:ext>
            </p:extLst>
          </p:nvPr>
        </p:nvGraphicFramePr>
        <p:xfrm>
          <a:off x="918261" y="8163204"/>
          <a:ext cx="6545529" cy="108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552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080720">
                <a:tc>
                  <a:txBody>
                    <a:bodyPr/>
                    <a:lstStyle/>
                    <a:p>
                      <a:endParaRPr lang="es-CO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41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870791"/>
            <a:ext cx="179536" cy="287486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00" y="927735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2014" y="1268221"/>
            <a:ext cx="304800" cy="76803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tres: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spc="-10">
                <a:latin typeface="Calibri"/>
                <a:cs typeface="Calibri"/>
              </a:rPr>
              <a:t>acompañamientos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25">
                <a:latin typeface="Calibri"/>
                <a:cs typeface="Calibri"/>
              </a:rPr>
              <a:t> </a:t>
            </a:r>
            <a:r>
              <a:rPr sz="2200" b="1" spc="-10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6284" y="75082"/>
            <a:ext cx="35077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t>Valoración</a:t>
            </a:r>
            <a:r>
              <a:rPr spc="-100"/>
              <a:t> </a:t>
            </a:r>
            <a:r>
              <a:t>mensual</a:t>
            </a:r>
            <a:r>
              <a:rPr spc="-100"/>
              <a:t> </a:t>
            </a:r>
            <a:r>
              <a:rPr spc="-25"/>
              <a:t>del </a:t>
            </a:r>
            <a:r>
              <a:rPr spc="-10"/>
              <a:t>acompañamiento</a:t>
            </a:r>
            <a:r>
              <a:rPr spc="-35"/>
              <a:t> </a:t>
            </a:r>
            <a:r>
              <a:t>a</a:t>
            </a:r>
            <a:r>
              <a:rPr spc="-20"/>
              <a:t> </a:t>
            </a:r>
            <a:r>
              <a:rPr spc="-10"/>
              <a:t>distancia: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0275" y="97853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2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2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FAMILIA: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6332" y="1260602"/>
            <a:ext cx="6432550" cy="170815"/>
          </a:xfrm>
          <a:custGeom>
            <a:avLst/>
            <a:gdLst/>
            <a:ahLst/>
            <a:cxnLst/>
            <a:rect l="l" t="t" r="r" b="b"/>
            <a:pathLst>
              <a:path w="6432550" h="170815">
                <a:moveTo>
                  <a:pt x="6432550" y="0"/>
                </a:moveTo>
                <a:lnTo>
                  <a:pt x="0" y="0"/>
                </a:lnTo>
                <a:lnTo>
                  <a:pt x="0" y="170688"/>
                </a:lnTo>
                <a:lnTo>
                  <a:pt x="6432550" y="170688"/>
                </a:lnTo>
                <a:lnTo>
                  <a:pt x="6432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3632" y="1225652"/>
            <a:ext cx="6454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15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y</a:t>
            </a:r>
            <a:r>
              <a:rPr sz="1100" spc="9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opiniones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la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familia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(niñas,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niños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y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adultos),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sobre</a:t>
            </a:r>
            <a:r>
              <a:rPr sz="1100" spc="19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 spc="-25">
                <a:solidFill>
                  <a:srgbClr val="3B4043"/>
                </a:solidFill>
                <a:latin typeface="Calibri"/>
                <a:cs typeface="Calibri"/>
              </a:rPr>
              <a:t>los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acompañamientos</a:t>
            </a:r>
            <a:r>
              <a:rPr sz="1100" spc="6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distancia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vividos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20">
                <a:solidFill>
                  <a:srgbClr val="3B4043"/>
                </a:solidFill>
                <a:latin typeface="Calibri"/>
                <a:cs typeface="Calibri"/>
              </a:rPr>
              <a:t>mes: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580" y="1676400"/>
            <a:ext cx="3168650" cy="362585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4925" rIns="0" bIns="0" rtlCol="0">
            <a:spAutoFit/>
          </a:bodyPr>
          <a:lstStyle/>
          <a:p>
            <a:pPr marL="1209675" marR="53975" indent="-1167765">
              <a:lnSpc>
                <a:spcPct val="102499"/>
              </a:lnSpc>
              <a:spcBef>
                <a:spcPts val="275"/>
              </a:spcBef>
            </a:pP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sz="1200" b="1" spc="-4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les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gustó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y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que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no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los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acompañamientos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distancia?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3709" y="1676400"/>
            <a:ext cx="3168650" cy="362585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4925" rIns="0" bIns="0" rtlCol="0">
            <a:spAutoFit/>
          </a:bodyPr>
          <a:lstStyle/>
          <a:p>
            <a:pPr marL="1264285" marR="158750" indent="-1111250">
              <a:lnSpc>
                <a:spcPct val="102499"/>
              </a:lnSpc>
              <a:spcBef>
                <a:spcPts val="275"/>
              </a:spcBef>
            </a:pP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¿Para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qué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le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sirvieron</a:t>
            </a:r>
            <a:r>
              <a:rPr sz="1200" b="1" spc="-1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los</a:t>
            </a:r>
            <a:r>
              <a:rPr sz="1200" b="1" spc="-1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acompañamientos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50">
                <a:solidFill>
                  <a:srgbClr val="3E3E3E"/>
                </a:solidFill>
                <a:latin typeface="Calibri"/>
                <a:cs typeface="Calibri"/>
              </a:rPr>
              <a:t>a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distancia?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7580" y="5491479"/>
            <a:ext cx="3168650" cy="37363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4925" rIns="0" bIns="0" rtlCol="0">
            <a:spAutoFit/>
          </a:bodyPr>
          <a:lstStyle/>
          <a:p>
            <a:pPr marL="49530" marR="59055" algn="ctr">
              <a:lnSpc>
                <a:spcPct val="102499"/>
              </a:lnSpc>
              <a:spcBef>
                <a:spcPts val="275"/>
              </a:spcBef>
            </a:pP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¿Cómo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participó</a:t>
            </a:r>
            <a:r>
              <a:rPr sz="1200" b="1" spc="-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niña,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niño</a:t>
            </a:r>
            <a:r>
              <a:rPr sz="1200" b="1" spc="-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1200" b="1" spc="-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mujer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gestante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en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las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experiencias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propuestas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en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los 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acompañamientos</a:t>
            </a:r>
            <a:r>
              <a:rPr sz="1200" b="1" spc="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200" b="1" spc="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distancia?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3709" y="5538470"/>
            <a:ext cx="3168650" cy="368871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6830" rIns="0" bIns="0" rtlCol="0">
            <a:spAutoFit/>
          </a:bodyPr>
          <a:lstStyle/>
          <a:p>
            <a:pPr marL="616585" marR="422909" indent="-201295">
              <a:lnSpc>
                <a:spcPct val="101699"/>
              </a:lnSpc>
              <a:spcBef>
                <a:spcPts val="290"/>
              </a:spcBef>
            </a:pP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¿Qué</a:t>
            </a:r>
            <a:r>
              <a:rPr sz="1200" b="1" spc="-5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le</a:t>
            </a:r>
            <a:r>
              <a:rPr sz="1200" b="1" spc="-5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gustaría</a:t>
            </a:r>
            <a:r>
              <a:rPr sz="1200" b="1" spc="-5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vivir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en</a:t>
            </a:r>
            <a:r>
              <a:rPr sz="1200" b="1" spc="-4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los</a:t>
            </a:r>
            <a:r>
              <a:rPr sz="1200" b="1" spc="-4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próximos 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acompañamientos</a:t>
            </a:r>
            <a:r>
              <a:rPr sz="1200" b="1" spc="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200" b="1" spc="3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distancia?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148ED116-E47F-69F9-2B9B-5F41A276A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93769"/>
              </p:ext>
            </p:extLst>
          </p:nvPr>
        </p:nvGraphicFramePr>
        <p:xfrm>
          <a:off x="973633" y="2093698"/>
          <a:ext cx="3152598" cy="3208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259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08552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F512C8B-9ADF-1510-BFFE-36AB2F7CC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820626"/>
              </p:ext>
            </p:extLst>
          </p:nvPr>
        </p:nvGraphicFramePr>
        <p:xfrm>
          <a:off x="4266284" y="2116710"/>
          <a:ext cx="3152598" cy="318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259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185540">
                <a:tc>
                  <a:txBody>
                    <a:bodyPr/>
                    <a:lstStyle/>
                    <a:p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BBD12D4F-1823-76EB-0FC1-B08D12B6C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532623"/>
              </p:ext>
            </p:extLst>
          </p:nvPr>
        </p:nvGraphicFramePr>
        <p:xfrm>
          <a:off x="964081" y="6043475"/>
          <a:ext cx="3152598" cy="318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259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185540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6E21F955-9BAB-6C4A-01F4-B4EED6A2B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323824"/>
              </p:ext>
            </p:extLst>
          </p:nvPr>
        </p:nvGraphicFramePr>
        <p:xfrm>
          <a:off x="4339640" y="6043475"/>
          <a:ext cx="3112719" cy="318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71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185540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977116"/>
            <a:ext cx="179536" cy="276854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00" y="1034353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551" y="1347532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9812" y="55270"/>
            <a:ext cx="35077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t>Valoración</a:t>
            </a:r>
            <a:r>
              <a:rPr spc="-100"/>
              <a:t> </a:t>
            </a:r>
            <a:r>
              <a:t>mensual</a:t>
            </a:r>
            <a:r>
              <a:rPr spc="-95"/>
              <a:t> </a:t>
            </a:r>
            <a:r>
              <a:rPr spc="-25"/>
              <a:t>del </a:t>
            </a:r>
            <a:r>
              <a:rPr spc="-10"/>
              <a:t>acompañamiento</a:t>
            </a:r>
            <a:r>
              <a:rPr spc="-35"/>
              <a:t> </a:t>
            </a:r>
            <a:r>
              <a:t>a</a:t>
            </a:r>
            <a:r>
              <a:rPr spc="-20"/>
              <a:t> </a:t>
            </a:r>
            <a:r>
              <a:rPr spc="-10"/>
              <a:t>distancia: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5189" y="946785"/>
            <a:ext cx="6527800" cy="220979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127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"/>
              </a:spcBef>
            </a:pP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2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VOCES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TALENTO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HUMANO</a:t>
            </a:r>
            <a:r>
              <a:rPr sz="12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sz="12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>
                <a:solidFill>
                  <a:srgbClr val="FFFFFF"/>
                </a:solidFill>
                <a:latin typeface="Calibri"/>
                <a:cs typeface="Calibri"/>
              </a:rPr>
              <a:t>SERVICIO: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468" y="1262125"/>
            <a:ext cx="6432550" cy="170815"/>
          </a:xfrm>
          <a:custGeom>
            <a:avLst/>
            <a:gdLst/>
            <a:ahLst/>
            <a:cxnLst/>
            <a:rect l="l" t="t" r="r" b="b"/>
            <a:pathLst>
              <a:path w="6432550" h="170815">
                <a:moveTo>
                  <a:pt x="6432550" y="0"/>
                </a:moveTo>
                <a:lnTo>
                  <a:pt x="0" y="0"/>
                </a:lnTo>
                <a:lnTo>
                  <a:pt x="0" y="170688"/>
                </a:lnTo>
                <a:lnTo>
                  <a:pt x="6432550" y="170688"/>
                </a:lnTo>
                <a:lnTo>
                  <a:pt x="6432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8768" y="1227176"/>
            <a:ext cx="6452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sz="1100" spc="16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registre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manera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análisis</a:t>
            </a:r>
            <a:r>
              <a:rPr sz="1100" spc="17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las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voces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del</a:t>
            </a:r>
            <a:r>
              <a:rPr sz="1100" spc="18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talento</a:t>
            </a:r>
            <a:r>
              <a:rPr sz="1100" spc="15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humano</a:t>
            </a:r>
            <a:r>
              <a:rPr sz="1100" spc="17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que</a:t>
            </a:r>
            <a:r>
              <a:rPr sz="1100" spc="165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realizaron</a:t>
            </a:r>
            <a:r>
              <a:rPr sz="1100" spc="160">
                <a:solidFill>
                  <a:srgbClr val="3B4043"/>
                </a:solidFill>
                <a:latin typeface="Calibri"/>
                <a:cs typeface="Calibri"/>
              </a:rPr>
              <a:t>  </a:t>
            </a:r>
            <a:r>
              <a:rPr sz="1100" spc="-25">
                <a:solidFill>
                  <a:srgbClr val="3B4043"/>
                </a:solidFill>
                <a:latin typeface="Calibri"/>
                <a:cs typeface="Calibri"/>
              </a:rPr>
              <a:t>los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acompañamientos</a:t>
            </a:r>
            <a:r>
              <a:rPr sz="1100" spc="6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a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distancia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mes,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relación</a:t>
            </a:r>
            <a:r>
              <a:rPr sz="1100" spc="7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con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la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familia</a:t>
            </a:r>
            <a:r>
              <a:rPr sz="1100" spc="8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protagonista</a:t>
            </a:r>
            <a:r>
              <a:rPr sz="1100" spc="6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100" spc="7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100" spc="75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100" spc="-10">
                <a:solidFill>
                  <a:srgbClr val="3B4043"/>
                </a:solidFill>
                <a:latin typeface="Calibri"/>
                <a:cs typeface="Calibri"/>
              </a:rPr>
              <a:t>cuaderno: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285" y="1797050"/>
            <a:ext cx="3168650" cy="351536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380"/>
              </a:lnSpc>
            </a:pP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¿Se</a:t>
            </a:r>
            <a:r>
              <a:rPr sz="1200" b="1" spc="-1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err="1">
                <a:solidFill>
                  <a:srgbClr val="3E3E3E"/>
                </a:solidFill>
                <a:latin typeface="Calibri"/>
                <a:cs typeface="Calibri"/>
              </a:rPr>
              <a:t>cumplieron</a:t>
            </a:r>
            <a:r>
              <a:rPr sz="1200" b="1" spc="-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las</a:t>
            </a:r>
            <a:r>
              <a:rPr sz="1200" b="1" spc="-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0" err="1">
                <a:solidFill>
                  <a:srgbClr val="3E3E3E"/>
                </a:solidFill>
                <a:latin typeface="Calibri"/>
                <a:cs typeface="Calibri"/>
              </a:rPr>
              <a:t>intencionalidades</a:t>
            </a:r>
            <a:r>
              <a:rPr sz="1200" b="1" spc="-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err="1">
                <a:solidFill>
                  <a:srgbClr val="3E3E3E"/>
                </a:solidFill>
                <a:latin typeface="Calibri"/>
                <a:cs typeface="Calibri"/>
              </a:rPr>
              <a:t>propuestas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8779" y="1797050"/>
            <a:ext cx="3168650" cy="405624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4925" rIns="0" bIns="0" rtlCol="0">
            <a:spAutoFit/>
          </a:bodyPr>
          <a:lstStyle/>
          <a:p>
            <a:pPr marL="988694" marR="180975" indent="-817244">
              <a:lnSpc>
                <a:spcPct val="102499"/>
              </a:lnSpc>
              <a:spcBef>
                <a:spcPts val="275"/>
              </a:spcBef>
            </a:pPr>
            <a:r>
              <a:rPr lang="es-MX" sz="1200" b="1">
                <a:solidFill>
                  <a:srgbClr val="3E3E3E"/>
                </a:solidFill>
                <a:latin typeface="Calibri"/>
                <a:cs typeface="Calibri"/>
              </a:rPr>
              <a:t>Describa c</a:t>
            </a:r>
            <a:r>
              <a:rPr sz="1200" b="1" err="1">
                <a:solidFill>
                  <a:srgbClr val="3E3E3E"/>
                </a:solidFill>
                <a:latin typeface="Calibri"/>
                <a:cs typeface="Calibri"/>
              </a:rPr>
              <a:t>ómo</a:t>
            </a:r>
            <a:r>
              <a:rPr sz="1200" b="1" spc="-4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err="1">
                <a:solidFill>
                  <a:srgbClr val="3E3E3E"/>
                </a:solidFill>
                <a:latin typeface="Calibri"/>
                <a:cs typeface="Calibri"/>
              </a:rPr>
              <a:t>fue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la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10" err="1">
                <a:solidFill>
                  <a:srgbClr val="3E3E3E"/>
                </a:solidFill>
                <a:latin typeface="Calibri"/>
                <a:cs typeface="Calibri"/>
              </a:rPr>
              <a:t>participación</a:t>
            </a:r>
            <a:r>
              <a:rPr sz="1200" b="1" spc="-2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200" b="1" spc="-3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lang="es-MX" sz="1200" b="1">
                <a:solidFill>
                  <a:srgbClr val="3E3E3E"/>
                </a:solidFill>
                <a:latin typeface="Calibri"/>
                <a:cs typeface="Calibri"/>
              </a:rPr>
              <a:t>a </a:t>
            </a:r>
            <a:r>
              <a:rPr sz="1200" b="1">
                <a:solidFill>
                  <a:srgbClr val="3E3E3E"/>
                </a:solidFill>
                <a:latin typeface="Calibri"/>
                <a:cs typeface="Calibri"/>
              </a:rPr>
              <a:t>familia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err="1">
                <a:solidFill>
                  <a:srgbClr val="3E3E3E"/>
                </a:solidFill>
                <a:latin typeface="Calibri"/>
                <a:cs typeface="Calibri"/>
              </a:rPr>
              <a:t>en</a:t>
            </a:r>
            <a:r>
              <a:rPr sz="1200" b="1" spc="-1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25" err="1">
                <a:solidFill>
                  <a:srgbClr val="3E3E3E"/>
                </a:solidFill>
                <a:latin typeface="Calibri"/>
                <a:cs typeface="Calibri"/>
              </a:rPr>
              <a:t>el</a:t>
            </a:r>
            <a:r>
              <a:rPr sz="1200" b="1" spc="-25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lang="es-ES" sz="1200" b="1" spc="-10">
                <a:solidFill>
                  <a:srgbClr val="3E3E3E"/>
                </a:solidFill>
                <a:latin typeface="Calibri"/>
                <a:cs typeface="Calibri"/>
              </a:rPr>
              <a:t>acompañamiento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20927" y="5470029"/>
          <a:ext cx="6760843" cy="379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8570">
                <a:tc>
                  <a:txBody>
                    <a:bodyPr/>
                    <a:lstStyle/>
                    <a:p>
                      <a:pPr marL="32384" algn="ctr">
                        <a:lnSpc>
                          <a:spcPts val="1385"/>
                        </a:lnSpc>
                      </a:pP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¿Cómo</a:t>
                      </a:r>
                      <a:r>
                        <a:rPr sz="1200" b="1" spc="-3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sz="1200" b="1" spc="-3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vinculó</a:t>
                      </a:r>
                      <a:r>
                        <a:rPr sz="1200" b="1" spc="-3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b="1" spc="-4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niña,</a:t>
                      </a:r>
                      <a:r>
                        <a:rPr sz="1200" b="1" spc="-3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200" b="1" spc="-2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niño</a:t>
                      </a:r>
                      <a:r>
                        <a:rPr sz="1200" b="1" spc="-3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200" b="1" spc="-3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mujer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048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gestantes</a:t>
                      </a:r>
                      <a:r>
                        <a:rPr sz="1200" b="1" spc="-4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200" b="1" spc="-4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sz="1200" b="1" spc="-3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acompañamientos</a:t>
                      </a:r>
                      <a:r>
                        <a:rPr sz="1200" b="1" spc="-4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b="1" spc="-4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distancia?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1190" marR="51435" indent="-556260">
                        <a:lnSpc>
                          <a:spcPct val="110000"/>
                        </a:lnSpc>
                        <a:spcBef>
                          <a:spcPts val="85"/>
                        </a:spcBef>
                      </a:pP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¿Qué</a:t>
                      </a:r>
                      <a:r>
                        <a:rPr sz="1200" b="1" spc="-5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recomendaciones</a:t>
                      </a:r>
                      <a:r>
                        <a:rPr sz="1200" b="1" spc="-5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tienen</a:t>
                      </a:r>
                      <a:r>
                        <a:rPr sz="1200" b="1" spc="-5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sz="1200" b="1" spc="-5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sz="1200" b="1" spc="-45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próximos </a:t>
                      </a:r>
                      <a:r>
                        <a:rPr sz="1200" b="1" spc="-2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acompañamientos</a:t>
                      </a:r>
                      <a:r>
                        <a:rPr sz="1200" b="1" spc="3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b="1" spc="3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>
                          <a:solidFill>
                            <a:srgbClr val="3E3E3E"/>
                          </a:solidFill>
                          <a:latin typeface="Calibri"/>
                          <a:cs typeface="Calibri"/>
                        </a:rPr>
                        <a:t>distancia?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BB7CBF30-8D01-41CF-DE6D-B3010B1BB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492327"/>
              </p:ext>
            </p:extLst>
          </p:nvPr>
        </p:nvGraphicFramePr>
        <p:xfrm>
          <a:off x="860348" y="2092706"/>
          <a:ext cx="3152598" cy="3208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259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08552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DB7E39AD-E68E-E8AD-8882-6D9CBCBE7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183012"/>
              </p:ext>
            </p:extLst>
          </p:nvPr>
        </p:nvGraphicFramePr>
        <p:xfrm>
          <a:off x="4260391" y="2190956"/>
          <a:ext cx="3152598" cy="3110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259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110302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BCA20F1C-4D33-0F53-00CC-9DAFFDAB8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15112"/>
              </p:ext>
            </p:extLst>
          </p:nvPr>
        </p:nvGraphicFramePr>
        <p:xfrm>
          <a:off x="788313" y="5814162"/>
          <a:ext cx="3224633" cy="3498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4633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498035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C6456B72-10D0-5ECD-FB72-1B2C49FAE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639840"/>
              </p:ext>
            </p:extLst>
          </p:nvPr>
        </p:nvGraphicFramePr>
        <p:xfrm>
          <a:off x="4208779" y="5941696"/>
          <a:ext cx="3155239" cy="3296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239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3296601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7E4D2-9184-85F5-A389-A1C0A670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8742C9-2C43-CC73-4EC9-36C293555CCE}"/>
              </a:ext>
            </a:extLst>
          </p:cNvPr>
          <p:cNvSpPr txBox="1"/>
          <p:nvPr/>
        </p:nvSpPr>
        <p:spPr>
          <a:xfrm>
            <a:off x="111464" y="2934586"/>
            <a:ext cx="179536" cy="281107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36DCC47-0949-7C9D-AD93-337F48C5B9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10" y="838687"/>
            <a:ext cx="352044" cy="829945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F57D949-EDA6-9BEE-EDF3-947D5FF52351}"/>
              </a:ext>
            </a:extLst>
          </p:cNvPr>
          <p:cNvSpPr txBox="1"/>
          <p:nvPr/>
        </p:nvSpPr>
        <p:spPr>
          <a:xfrm>
            <a:off x="386017" y="1233169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encuentros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3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25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3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3B63F20-B575-F6C6-F71B-338740EC2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044" y="40030"/>
            <a:ext cx="5058410" cy="729917"/>
          </a:xfrm>
          <a:prstGeom prst="rect">
            <a:avLst/>
          </a:prstGeom>
        </p:spPr>
        <p:txBody>
          <a:bodyPr vert="horz" wrap="square" lIns="0" tIns="387578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95"/>
              </a:spcBef>
            </a:pPr>
            <a:r>
              <a:rPr lang="es-MX" spc="-10"/>
              <a:t>Registro visual</a:t>
            </a:r>
            <a:r>
              <a:rPr spc="-10"/>
              <a:t>: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45F0D3F-9BE0-CFD8-FA40-83A24F7E90BE}"/>
              </a:ext>
            </a:extLst>
          </p:cNvPr>
          <p:cNvSpPr/>
          <p:nvPr/>
        </p:nvSpPr>
        <p:spPr>
          <a:xfrm>
            <a:off x="1010716" y="1233169"/>
            <a:ext cx="6432550" cy="170815"/>
          </a:xfrm>
          <a:custGeom>
            <a:avLst/>
            <a:gdLst/>
            <a:ahLst/>
            <a:cxnLst/>
            <a:rect l="l" t="t" r="r" b="b"/>
            <a:pathLst>
              <a:path w="6432550" h="170815">
                <a:moveTo>
                  <a:pt x="6432550" y="0"/>
                </a:moveTo>
                <a:lnTo>
                  <a:pt x="0" y="0"/>
                </a:lnTo>
                <a:lnTo>
                  <a:pt x="0" y="170688"/>
                </a:lnTo>
                <a:lnTo>
                  <a:pt x="6432550" y="170688"/>
                </a:lnTo>
                <a:lnTo>
                  <a:pt x="6432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5E7BB7B-3C08-24CD-4DEB-479B6F3C31ED}"/>
              </a:ext>
            </a:extLst>
          </p:cNvPr>
          <p:cNvSpPr txBox="1"/>
          <p:nvPr/>
        </p:nvSpPr>
        <p:spPr>
          <a:xfrm>
            <a:off x="920000" y="930550"/>
            <a:ext cx="6450965" cy="75495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Pegue</a:t>
            </a:r>
            <a:r>
              <a:rPr lang="es-MX" sz="1100" spc="-31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acá algunas</a:t>
            </a:r>
            <a:r>
              <a:rPr lang="es-MX" sz="1100" spc="-27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fotos</a:t>
            </a:r>
            <a:r>
              <a:rPr lang="es-MX" sz="1100" spc="-8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o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spc="-8" dirty="0">
                <a:solidFill>
                  <a:srgbClr val="7E7E7E"/>
                </a:solidFill>
                <a:latin typeface="Calibri"/>
                <a:cs typeface="Calibri"/>
              </a:rPr>
              <a:t>recuerdos ( como dibujos, creaciones, relatos)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del</a:t>
            </a:r>
            <a:r>
              <a:rPr lang="es-MX" sz="1100" spc="-27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spc="-8" dirty="0">
                <a:solidFill>
                  <a:srgbClr val="7E7E7E"/>
                </a:solidFill>
                <a:latin typeface="Calibri"/>
                <a:cs typeface="Calibri"/>
              </a:rPr>
              <a:t>encuentro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en el hogar y el acompañamiento a distancia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,</a:t>
            </a:r>
            <a:r>
              <a:rPr lang="es-MX" sz="1100" spc="-46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no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olviden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tener</a:t>
            </a:r>
            <a:r>
              <a:rPr lang="es-MX" sz="1100" spc="-42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lang="es-MX" sz="11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permiso</a:t>
            </a:r>
            <a:r>
              <a:rPr lang="es-MX" sz="1100" spc="212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firmado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lang="es-MX" sz="1100" spc="-23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lang="es-MX" sz="1100" spc="-31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uso</a:t>
            </a:r>
            <a:r>
              <a:rPr lang="es-MX" sz="11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lang="es-MX" sz="1100" spc="-27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lang="es-MX" sz="1100" spc="-8" dirty="0">
                <a:solidFill>
                  <a:srgbClr val="7E7E7E"/>
                </a:solidFill>
                <a:latin typeface="Calibri"/>
                <a:cs typeface="Calibri"/>
              </a:rPr>
              <a:t>fotografías. (Duplique esta hoja cuantas veces sea necesario)</a:t>
            </a:r>
            <a:endParaRPr lang="es-MX" sz="1100" dirty="0">
              <a:latin typeface="Calibri"/>
              <a:cs typeface="Calibri"/>
            </a:endParaRPr>
          </a:p>
          <a:p>
            <a:pPr marL="12700" marR="5080">
              <a:lnSpc>
                <a:spcPct val="109100"/>
              </a:lnSpc>
              <a:spcBef>
                <a:spcPts val="100"/>
              </a:spcBef>
            </a:pPr>
            <a:endParaRPr sz="1100" dirty="0">
              <a:latin typeface="Calibri"/>
              <a:cs typeface="Calibri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CB87197B-F4C2-4864-4D2D-952ECB9A2E16}"/>
              </a:ext>
            </a:extLst>
          </p:cNvPr>
          <p:cNvGraphicFramePr>
            <a:graphicFrameLocks noGrp="1"/>
          </p:cNvGraphicFramePr>
          <p:nvPr/>
        </p:nvGraphicFramePr>
        <p:xfrm>
          <a:off x="1037184" y="2238851"/>
          <a:ext cx="3065551" cy="18986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898617">
                <a:tc>
                  <a:txBody>
                    <a:bodyPr/>
                    <a:lstStyle/>
                    <a:p>
                      <a:endParaRPr lang="es-CO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B28125EF-C147-3E52-2134-60D4E5529097}"/>
              </a:ext>
            </a:extLst>
          </p:cNvPr>
          <p:cNvGraphicFramePr>
            <a:graphicFrameLocks noGrp="1"/>
          </p:cNvGraphicFramePr>
          <p:nvPr/>
        </p:nvGraphicFramePr>
        <p:xfrm>
          <a:off x="4305414" y="2214467"/>
          <a:ext cx="3065551" cy="18986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898617">
                <a:tc>
                  <a:txBody>
                    <a:bodyPr/>
                    <a:lstStyle/>
                    <a:p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FEC52375-6D2C-0D9C-82AC-A6DA582E1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00599"/>
              </p:ext>
            </p:extLst>
          </p:nvPr>
        </p:nvGraphicFramePr>
        <p:xfrm>
          <a:off x="1049433" y="5506915"/>
          <a:ext cx="6240070" cy="1998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0070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98342">
                <a:tc>
                  <a:txBody>
                    <a:bodyPr/>
                    <a:lstStyle/>
                    <a:p>
                      <a:r>
                        <a:rPr lang="es-CO" sz="1200" dirty="0"/>
                        <a:t>/06/2026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E021581B-B912-4D03-BD0C-48E7E24F2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783312"/>
              </p:ext>
            </p:extLst>
          </p:nvPr>
        </p:nvGraphicFramePr>
        <p:xfrm>
          <a:off x="990945" y="7114747"/>
          <a:ext cx="3065551" cy="20131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013103">
                <a:tc>
                  <a:txBody>
                    <a:bodyPr/>
                    <a:lstStyle/>
                    <a:p>
                      <a:endParaRPr lang="es-CO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FDCD1323-906A-AD24-CBD4-42C93A09A44F}"/>
              </a:ext>
            </a:extLst>
          </p:cNvPr>
          <p:cNvGraphicFramePr>
            <a:graphicFrameLocks noGrp="1"/>
          </p:cNvGraphicFramePr>
          <p:nvPr/>
        </p:nvGraphicFramePr>
        <p:xfrm>
          <a:off x="4282440" y="7186065"/>
          <a:ext cx="3065551" cy="20131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5551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013103">
                <a:tc>
                  <a:txBody>
                    <a:bodyPr/>
                    <a:lstStyle/>
                    <a:p>
                      <a:endParaRPr lang="es-CO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sp>
        <p:nvSpPr>
          <p:cNvPr id="6" name="object 15">
            <a:extLst>
              <a:ext uri="{FF2B5EF4-FFF2-40B4-BE49-F238E27FC236}">
                <a16:creationId xmlns:a16="http://schemas.microsoft.com/office/drawing/2014/main" id="{13F86F7C-09AD-6D57-7FEB-0D0D6436EDC6}"/>
              </a:ext>
            </a:extLst>
          </p:cNvPr>
          <p:cNvSpPr txBox="1"/>
          <p:nvPr/>
        </p:nvSpPr>
        <p:spPr>
          <a:xfrm>
            <a:off x="937462" y="1467891"/>
            <a:ext cx="374883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err="1">
                <a:latin typeface="Calibri"/>
                <a:cs typeface="Calibri"/>
              </a:rPr>
              <a:t>Fecha</a:t>
            </a:r>
            <a:r>
              <a:rPr lang="es-MX" sz="1100" b="1" spc="-10">
                <a:latin typeface="Calibri"/>
                <a:cs typeface="Calibri"/>
              </a:rPr>
              <a:t> del registro fotográfico en el acompañamiento en el hogar: 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1BF119EE-ED62-062E-FBD7-BBCF0C3236CD}"/>
              </a:ext>
            </a:extLst>
          </p:cNvPr>
          <p:cNvSpPr txBox="1"/>
          <p:nvPr/>
        </p:nvSpPr>
        <p:spPr>
          <a:xfrm>
            <a:off x="937462" y="5077673"/>
            <a:ext cx="6168188" cy="3642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 err="1">
                <a:latin typeface="Calibri"/>
                <a:cs typeface="Calibri"/>
              </a:rPr>
              <a:t>Fecha</a:t>
            </a:r>
            <a:r>
              <a:rPr lang="es-MX" sz="1100" b="1" spc="-10" dirty="0">
                <a:latin typeface="Calibri"/>
                <a:cs typeface="Calibri"/>
              </a:rPr>
              <a:t> del acompañamiento a distancia: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100" b="1" spc="-10" dirty="0">
                <a:latin typeface="Calibri"/>
                <a:cs typeface="Calibri"/>
              </a:rPr>
              <a:t>(</a:t>
            </a:r>
            <a:r>
              <a:rPr lang="es-MX" sz="1100" spc="-10" dirty="0">
                <a:latin typeface="Calibri"/>
                <a:cs typeface="Calibri"/>
              </a:rPr>
              <a:t>Aquí coloca la captura de pantalla de la llamada, o los insumos del medio utilizado) 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611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4" y="2785730"/>
            <a:ext cx="179536" cy="295992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err="1">
                <a:latin typeface="Arial"/>
                <a:cs typeface="Arial"/>
              </a:rPr>
              <a:t>Servicio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>
                <a:latin typeface="Arial"/>
                <a:cs typeface="Arial"/>
              </a:rPr>
              <a:t>de</a:t>
            </a:r>
            <a:r>
              <a:rPr sz="1200" spc="-50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Educación</a:t>
            </a:r>
            <a:r>
              <a:rPr sz="1200" spc="-55">
                <a:latin typeface="Arial"/>
                <a:cs typeface="Arial"/>
              </a:rPr>
              <a:t> </a:t>
            </a:r>
            <a:r>
              <a:rPr sz="1200" err="1">
                <a:latin typeface="Arial"/>
                <a:cs typeface="Arial"/>
              </a:rPr>
              <a:t>Inicial</a:t>
            </a:r>
            <a:r>
              <a:rPr sz="1200" spc="-50">
                <a:latin typeface="Arial"/>
                <a:cs typeface="Arial"/>
              </a:rPr>
              <a:t> </a:t>
            </a:r>
            <a:r>
              <a:rPr lang="es-MX" sz="1200" spc="-20">
                <a:latin typeface="Arial"/>
                <a:cs typeface="Arial"/>
              </a:rPr>
              <a:t>Campesina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00" y="879475"/>
            <a:ext cx="352044" cy="82994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2236" y="1252950"/>
            <a:ext cx="304800" cy="76765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2200" b="1" err="1">
                <a:latin typeface="Calibri"/>
                <a:cs typeface="Calibri"/>
              </a:rPr>
              <a:t>Parte</a:t>
            </a:r>
            <a:r>
              <a:rPr sz="2200" b="1" spc="-45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tres</a:t>
            </a:r>
            <a:r>
              <a:rPr sz="2200" b="1">
                <a:latin typeface="Calibri"/>
                <a:cs typeface="Calibri"/>
              </a:rPr>
              <a:t>: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encuentros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en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el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err="1">
                <a:latin typeface="Calibri"/>
                <a:cs typeface="Calibri"/>
              </a:rPr>
              <a:t>hogar</a:t>
            </a:r>
            <a:r>
              <a:rPr sz="2200" b="1" spc="-6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y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acompañamientos</a:t>
            </a:r>
            <a:r>
              <a:rPr sz="2200" b="1" spc="-40">
                <a:latin typeface="Calibri"/>
                <a:cs typeface="Calibri"/>
              </a:rPr>
              <a:t> </a:t>
            </a:r>
            <a:r>
              <a:rPr sz="2200" b="1">
                <a:latin typeface="Calibri"/>
                <a:cs typeface="Calibri"/>
              </a:rPr>
              <a:t>a</a:t>
            </a:r>
            <a:r>
              <a:rPr sz="2200" b="1" spc="-50">
                <a:latin typeface="Calibri"/>
                <a:cs typeface="Calibri"/>
              </a:rPr>
              <a:t> </a:t>
            </a:r>
            <a:r>
              <a:rPr sz="2200" b="1" spc="-10" err="1">
                <a:latin typeface="Calibri"/>
                <a:cs typeface="Calibri"/>
              </a:rPr>
              <a:t>distancia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>
              <a:lnSpc>
                <a:spcPct val="109100"/>
              </a:lnSpc>
              <a:spcBef>
                <a:spcPts val="100"/>
              </a:spcBef>
            </a:pPr>
            <a:r>
              <a:rPr err="1"/>
              <a:t>Registro</a:t>
            </a:r>
            <a:r>
              <a:rPr spc="-45"/>
              <a:t> </a:t>
            </a:r>
            <a:r>
              <a:t>de</a:t>
            </a:r>
            <a:r>
              <a:rPr spc="-35"/>
              <a:t> </a:t>
            </a:r>
            <a:r>
              <a:rPr spc="-10" err="1"/>
              <a:t>observaciones</a:t>
            </a:r>
            <a:r>
              <a:rPr spc="-40"/>
              <a:t> </a:t>
            </a:r>
            <a:r>
              <a:t>al</a:t>
            </a:r>
            <a:r>
              <a:rPr spc="-35"/>
              <a:t> </a:t>
            </a:r>
            <a:r>
              <a:rPr spc="-10" err="1"/>
              <a:t>desarrollo</a:t>
            </a:r>
            <a:r>
              <a:rPr spc="-10"/>
              <a:t> </a:t>
            </a:r>
            <a:r>
              <a:rPr err="1"/>
              <a:t>infantil</a:t>
            </a:r>
            <a:r>
              <a:rPr spc="-45"/>
              <a:t> </a:t>
            </a:r>
            <a:r>
              <a:rPr lang="es-MX" spc="-45"/>
              <a:t>mensual</a:t>
            </a:r>
            <a:r>
              <a:rPr spc="-10"/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971092" y="1003045"/>
            <a:ext cx="6409690" cy="355600"/>
          </a:xfrm>
          <a:custGeom>
            <a:avLst/>
            <a:gdLst/>
            <a:ahLst/>
            <a:cxnLst/>
            <a:rect l="l" t="t" r="r" b="b"/>
            <a:pathLst>
              <a:path w="6409690" h="355600">
                <a:moveTo>
                  <a:pt x="4609211" y="182892"/>
                </a:moveTo>
                <a:lnTo>
                  <a:pt x="0" y="182892"/>
                </a:lnTo>
                <a:lnTo>
                  <a:pt x="0" y="355092"/>
                </a:lnTo>
                <a:lnTo>
                  <a:pt x="4609211" y="355092"/>
                </a:lnTo>
                <a:lnTo>
                  <a:pt x="4609211" y="182892"/>
                </a:lnTo>
                <a:close/>
              </a:path>
              <a:path w="6409690" h="355600">
                <a:moveTo>
                  <a:pt x="6409690" y="0"/>
                </a:moveTo>
                <a:lnTo>
                  <a:pt x="0" y="0"/>
                </a:lnTo>
                <a:lnTo>
                  <a:pt x="0" y="172212"/>
                </a:lnTo>
                <a:lnTo>
                  <a:pt x="6409690" y="172212"/>
                </a:lnTo>
                <a:lnTo>
                  <a:pt x="64096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0602" y="889406"/>
            <a:ext cx="6814008" cy="50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100"/>
              </a:spcBef>
            </a:pP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0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este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apartado</a:t>
            </a:r>
            <a:r>
              <a:rPr lang="es-MX" sz="1000" spc="75" dirty="0">
                <a:solidFill>
                  <a:srgbClr val="3B4043"/>
                </a:solidFill>
                <a:latin typeface="Calibri"/>
                <a:cs typeface="Calibri"/>
              </a:rPr>
              <a:t> ve registrando las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observaciones</a:t>
            </a:r>
            <a:r>
              <a:rPr lang="es-MX"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sobre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la</a:t>
            </a:r>
            <a:r>
              <a:rPr sz="10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participación</a:t>
            </a:r>
            <a:r>
              <a:rPr sz="1000" spc="6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y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proceso</a:t>
            </a:r>
            <a:r>
              <a:rPr sz="1000" spc="7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desarrollo</a:t>
            </a:r>
            <a:r>
              <a:rPr sz="1000" spc="9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de</a:t>
            </a:r>
            <a:r>
              <a:rPr sz="1000" spc="7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3B4043"/>
                </a:solidFill>
                <a:latin typeface="Calibri"/>
                <a:cs typeface="Calibri"/>
              </a:rPr>
              <a:t>la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niña</a:t>
            </a:r>
            <a:r>
              <a:rPr sz="10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o</a:t>
            </a:r>
            <a:r>
              <a:rPr sz="10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000" spc="4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niño</a:t>
            </a:r>
            <a:r>
              <a:rPr sz="10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durante</a:t>
            </a:r>
            <a:r>
              <a:rPr sz="1000" spc="5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lang="es-MX" sz="1000" spc="50" dirty="0">
                <a:solidFill>
                  <a:srgbClr val="3B4043"/>
                </a:solidFill>
                <a:latin typeface="Calibri"/>
                <a:cs typeface="Calibri"/>
              </a:rPr>
              <a:t>los</a:t>
            </a:r>
            <a:r>
              <a:rPr sz="1000" spc="8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encuentro</a:t>
            </a:r>
            <a:r>
              <a:rPr lang="es-MX" sz="1000" dirty="0">
                <a:solidFill>
                  <a:srgbClr val="3B4043"/>
                </a:solidFill>
                <a:latin typeface="Calibri"/>
                <a:cs typeface="Calibri"/>
              </a:rPr>
              <a:t>s</a:t>
            </a:r>
            <a:r>
              <a:rPr sz="1000" spc="55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en</a:t>
            </a:r>
            <a:r>
              <a:rPr sz="10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 err="1">
                <a:solidFill>
                  <a:srgbClr val="3B4043"/>
                </a:solidFill>
                <a:latin typeface="Calibri"/>
                <a:cs typeface="Calibri"/>
              </a:rPr>
              <a:t>el</a:t>
            </a:r>
            <a:r>
              <a:rPr sz="1000" spc="60" dirty="0">
                <a:solidFill>
                  <a:srgbClr val="3B404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B4043"/>
                </a:solidFill>
                <a:latin typeface="Calibri"/>
                <a:cs typeface="Calibri"/>
              </a:rPr>
              <a:t>hog</a:t>
            </a:r>
            <a:r>
              <a:rPr lang="es-MX" sz="1000" dirty="0">
                <a:solidFill>
                  <a:srgbClr val="3B4043"/>
                </a:solidFill>
                <a:latin typeface="Calibri"/>
                <a:cs typeface="Calibri"/>
              </a:rPr>
              <a:t>ar, encuentros comunitarios y los acompañamientos a distancia que se realicen en el mes. Todo el talento que acompaña debe registrar las observaciones aquí. 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045" y="1469517"/>
            <a:ext cx="6833566" cy="505395"/>
          </a:xfrm>
          <a:prstGeom prst="rect">
            <a:avLst/>
          </a:prstGeom>
          <a:solidFill>
            <a:srgbClr val="D0CECE"/>
          </a:solidFill>
        </p:spPr>
        <p:txBody>
          <a:bodyPr vert="horz" wrap="square" lIns="0" tIns="4254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335"/>
              </a:spcBef>
            </a:pPr>
            <a:r>
              <a:rPr sz="1000">
                <a:latin typeface="Calibri"/>
                <a:cs typeface="Calibri"/>
              </a:rPr>
              <a:t>¿</a:t>
            </a:r>
            <a:r>
              <a:rPr sz="1000" err="1">
                <a:latin typeface="Calibri"/>
                <a:cs typeface="Calibri"/>
              </a:rPr>
              <a:t>Qué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gustó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a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(</a:t>
            </a:r>
            <a:r>
              <a:rPr sz="1000" spc="-10" err="1">
                <a:latin typeface="Calibri"/>
                <a:cs typeface="Calibri"/>
              </a:rPr>
              <a:t>nombre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de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la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niña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o</a:t>
            </a:r>
            <a:r>
              <a:rPr sz="1000" spc="-20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niño</a:t>
            </a:r>
            <a:r>
              <a:rPr sz="1000" spc="-10">
                <a:latin typeface="Calibri"/>
                <a:cs typeface="Calibri"/>
              </a:rPr>
              <a:t>)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del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encuentro</a:t>
            </a:r>
            <a:r>
              <a:rPr lang="es-MX" sz="1000" spc="-10">
                <a:latin typeface="Calibri"/>
                <a:cs typeface="Calibri"/>
              </a:rPr>
              <a:t> o acompañamiento</a:t>
            </a:r>
            <a:r>
              <a:rPr sz="1000" spc="-10">
                <a:latin typeface="Calibri"/>
                <a:cs typeface="Calibri"/>
              </a:rPr>
              <a:t>?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¿</a:t>
            </a:r>
            <a:r>
              <a:rPr sz="1000" err="1">
                <a:latin typeface="Calibri"/>
                <a:cs typeface="Calibri"/>
              </a:rPr>
              <a:t>Qué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no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gustó</a:t>
            </a:r>
            <a:r>
              <a:rPr sz="1000" spc="-10">
                <a:latin typeface="Calibri"/>
                <a:cs typeface="Calibri"/>
              </a:rPr>
              <a:t>?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¿A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que</a:t>
            </a:r>
            <a:r>
              <a:rPr sz="1000" spc="-20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jugó</a:t>
            </a:r>
            <a:r>
              <a:rPr sz="1000" spc="-10">
                <a:latin typeface="Calibri"/>
                <a:cs typeface="Calibri"/>
              </a:rPr>
              <a:t>?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¿</a:t>
            </a:r>
            <a:r>
              <a:rPr sz="1000" spc="-10" err="1">
                <a:latin typeface="Calibri"/>
                <a:cs typeface="Calibri"/>
              </a:rPr>
              <a:t>Sobre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qué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convers</a:t>
            </a:r>
            <a:r>
              <a:rPr lang="es-MX" sz="1000" spc="-10" err="1">
                <a:latin typeface="Calibri"/>
                <a:cs typeface="Calibri"/>
              </a:rPr>
              <a:t>ó</a:t>
            </a:r>
            <a:r>
              <a:rPr sz="1000" spc="-10">
                <a:latin typeface="Calibri"/>
                <a:cs typeface="Calibri"/>
              </a:rPr>
              <a:t>?</a:t>
            </a:r>
            <a:endParaRPr sz="1000">
              <a:latin typeface="Calibri"/>
              <a:cs typeface="Calibri"/>
            </a:endParaRPr>
          </a:p>
          <a:p>
            <a:pPr marL="106680" marR="214629">
              <a:lnSpc>
                <a:spcPct val="101800"/>
              </a:lnSpc>
            </a:pPr>
            <a:r>
              <a:rPr sz="1000">
                <a:latin typeface="Calibri"/>
                <a:cs typeface="Calibri"/>
              </a:rPr>
              <a:t>¿</a:t>
            </a:r>
            <a:r>
              <a:rPr sz="1000" err="1">
                <a:latin typeface="Calibri"/>
                <a:cs typeface="Calibri"/>
              </a:rPr>
              <a:t>Cómo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participó</a:t>
            </a:r>
            <a:r>
              <a:rPr sz="1000">
                <a:latin typeface="Calibri"/>
                <a:cs typeface="Calibri"/>
              </a:rPr>
              <a:t>?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¿</a:t>
            </a:r>
            <a:r>
              <a:rPr sz="1000" err="1">
                <a:latin typeface="Calibri"/>
                <a:cs typeface="Calibri"/>
              </a:rPr>
              <a:t>Cómo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relacionó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con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los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adultos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de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la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familia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y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con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el</a:t>
            </a:r>
            <a:r>
              <a:rPr sz="1000" spc="-3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TH?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¿</a:t>
            </a:r>
            <a:r>
              <a:rPr sz="1000" err="1">
                <a:latin typeface="Calibri"/>
                <a:cs typeface="Calibri"/>
              </a:rPr>
              <a:t>Cómo</a:t>
            </a:r>
            <a:r>
              <a:rPr sz="1000" spc="-2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se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relacionó</a:t>
            </a:r>
            <a:r>
              <a:rPr sz="1000" spc="-4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con</a:t>
            </a:r>
            <a:r>
              <a:rPr sz="1000" spc="-3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las</a:t>
            </a:r>
            <a:r>
              <a:rPr sz="1000" spc="-45">
                <a:latin typeface="Calibri"/>
                <a:cs typeface="Calibri"/>
              </a:rPr>
              <a:t> </a:t>
            </a:r>
            <a:r>
              <a:rPr sz="1000" spc="-10" err="1">
                <a:latin typeface="Calibri"/>
                <a:cs typeface="Calibri"/>
              </a:rPr>
              <a:t>otras</a:t>
            </a:r>
            <a:r>
              <a:rPr sz="1000" spc="-10">
                <a:latin typeface="Calibri"/>
                <a:cs typeface="Calibri"/>
              </a:rPr>
              <a:t> </a:t>
            </a:r>
            <a:r>
              <a:rPr sz="1000" err="1">
                <a:latin typeface="Calibri"/>
                <a:cs typeface="Calibri"/>
              </a:rPr>
              <a:t>niñas</a:t>
            </a:r>
            <a:r>
              <a:rPr sz="1000" spc="-10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y </a:t>
            </a:r>
            <a:r>
              <a:rPr sz="1000" err="1">
                <a:latin typeface="Calibri"/>
                <a:cs typeface="Calibri"/>
              </a:rPr>
              <a:t>niños</a:t>
            </a:r>
            <a:r>
              <a:rPr sz="1000" spc="-15">
                <a:latin typeface="Calibri"/>
                <a:cs typeface="Calibri"/>
              </a:rPr>
              <a:t> </a:t>
            </a:r>
            <a:r>
              <a:rPr sz="1000">
                <a:latin typeface="Calibri"/>
                <a:cs typeface="Calibri"/>
              </a:rPr>
              <a:t>de la</a:t>
            </a:r>
            <a:r>
              <a:rPr sz="1000" spc="-5">
                <a:latin typeface="Calibri"/>
                <a:cs typeface="Calibri"/>
              </a:rPr>
              <a:t> </a:t>
            </a:r>
            <a:r>
              <a:rPr sz="1000" spc="-10">
                <a:latin typeface="Calibri"/>
                <a:cs typeface="Calibri"/>
              </a:rPr>
              <a:t>familia</a:t>
            </a:r>
            <a:r>
              <a:rPr lang="es-MX" sz="1000" spc="-10">
                <a:latin typeface="Calibri"/>
                <a:cs typeface="Calibri"/>
              </a:rPr>
              <a:t> y de la UCA</a:t>
            </a:r>
            <a:r>
              <a:rPr sz="1000" spc="-10">
                <a:latin typeface="Calibri"/>
                <a:cs typeface="Calibri"/>
              </a:rPr>
              <a:t>?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2017648"/>
            <a:ext cx="6637020" cy="2112010"/>
          </a:xfrm>
          <a:custGeom>
            <a:avLst/>
            <a:gdLst/>
            <a:ahLst/>
            <a:cxnLst/>
            <a:rect l="l" t="t" r="r" b="b"/>
            <a:pathLst>
              <a:path w="6637020" h="2112010">
                <a:moveTo>
                  <a:pt x="0" y="2112010"/>
                </a:moveTo>
                <a:lnTo>
                  <a:pt x="6637020" y="2112010"/>
                </a:lnTo>
                <a:lnTo>
                  <a:pt x="6637020" y="0"/>
                </a:lnTo>
                <a:lnTo>
                  <a:pt x="0" y="0"/>
                </a:lnTo>
                <a:lnTo>
                  <a:pt x="0" y="211201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1044" y="4243324"/>
            <a:ext cx="6622415" cy="382156"/>
          </a:xfrm>
          <a:prstGeom prst="rect">
            <a:avLst/>
          </a:prstGeom>
          <a:solidFill>
            <a:srgbClr val="D0CECE"/>
          </a:solidFill>
        </p:spPr>
        <p:txBody>
          <a:bodyPr vert="horz" wrap="square" lIns="0" tIns="39370" rIns="0" bIns="0" rtlCol="0">
            <a:spAutoFit/>
          </a:bodyPr>
          <a:lstStyle/>
          <a:p>
            <a:pPr marL="96520" marR="209550">
              <a:lnSpc>
                <a:spcPct val="102699"/>
              </a:lnSpc>
              <a:spcBef>
                <a:spcPts val="310"/>
              </a:spcBef>
            </a:pPr>
            <a:r>
              <a:rPr lang="es-MX" sz="1100">
                <a:latin typeface="Calibri"/>
                <a:cs typeface="Calibri"/>
              </a:rPr>
              <a:t>¿Qué intereses tiene? </a:t>
            </a:r>
            <a:r>
              <a:rPr sz="1100">
                <a:latin typeface="Calibri"/>
                <a:cs typeface="Calibri"/>
              </a:rPr>
              <a:t>¿</a:t>
            </a:r>
            <a:r>
              <a:rPr sz="1100" err="1">
                <a:latin typeface="Calibri"/>
                <a:cs typeface="Calibri"/>
              </a:rPr>
              <a:t>Cómo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comunica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sus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intereses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 err="1">
                <a:latin typeface="Calibri"/>
                <a:cs typeface="Calibri"/>
              </a:rPr>
              <a:t>necesidades</a:t>
            </a:r>
            <a:r>
              <a:rPr sz="1100" spc="-10">
                <a:latin typeface="Calibri"/>
                <a:cs typeface="Calibri"/>
              </a:rPr>
              <a:t>?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¿</a:t>
            </a:r>
            <a:r>
              <a:rPr sz="1100" err="1">
                <a:latin typeface="Calibri"/>
                <a:cs typeface="Calibri"/>
              </a:rPr>
              <a:t>Cómo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reconoce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se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relaciona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con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su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familia?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¿</a:t>
            </a:r>
            <a:r>
              <a:rPr sz="1100" err="1">
                <a:latin typeface="Calibri"/>
                <a:cs typeface="Calibri"/>
              </a:rPr>
              <a:t>Qué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aspectos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se </a:t>
            </a:r>
            <a:r>
              <a:rPr sz="1100" err="1">
                <a:latin typeface="Calibri"/>
                <a:cs typeface="Calibri"/>
              </a:rPr>
              <a:t>evidencia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que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está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apropiando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 err="1">
                <a:latin typeface="Calibri"/>
                <a:cs typeface="Calibri"/>
              </a:rPr>
              <a:t>comprendiendo</a:t>
            </a:r>
            <a:r>
              <a:rPr sz="1100" spc="-10">
                <a:latin typeface="Calibri"/>
                <a:cs typeface="Calibri"/>
              </a:rPr>
              <a:t>?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3930" y="4729226"/>
            <a:ext cx="6589395" cy="2017395"/>
          </a:xfrm>
          <a:custGeom>
            <a:avLst/>
            <a:gdLst/>
            <a:ahLst/>
            <a:cxnLst/>
            <a:rect l="l" t="t" r="r" b="b"/>
            <a:pathLst>
              <a:path w="6589395" h="2017395">
                <a:moveTo>
                  <a:pt x="0" y="2017395"/>
                </a:moveTo>
                <a:lnTo>
                  <a:pt x="6589395" y="2017395"/>
                </a:lnTo>
                <a:lnTo>
                  <a:pt x="6589395" y="0"/>
                </a:lnTo>
                <a:lnTo>
                  <a:pt x="0" y="0"/>
                </a:lnTo>
                <a:lnTo>
                  <a:pt x="0" y="201739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8055" y="6835902"/>
            <a:ext cx="6622415" cy="379848"/>
          </a:xfrm>
          <a:prstGeom prst="rect">
            <a:avLst/>
          </a:prstGeom>
          <a:solidFill>
            <a:srgbClr val="D0CECE"/>
          </a:solidFill>
        </p:spPr>
        <p:txBody>
          <a:bodyPr vert="horz" wrap="square" lIns="0" tIns="40005" rIns="0" bIns="0" rtlCol="0">
            <a:spAutoFit/>
          </a:bodyPr>
          <a:lstStyle/>
          <a:p>
            <a:pPr marL="95885" marR="212725">
              <a:lnSpc>
                <a:spcPct val="101800"/>
              </a:lnSpc>
              <a:spcBef>
                <a:spcPts val="315"/>
              </a:spcBef>
            </a:pPr>
            <a:r>
              <a:rPr sz="1100" err="1">
                <a:latin typeface="Calibri"/>
                <a:cs typeface="Calibri"/>
              </a:rPr>
              <a:t>Aspectos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a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tener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en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cuenta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en</a:t>
            </a:r>
            <a:r>
              <a:rPr lang="es-MX" sz="1100" spc="35">
                <a:latin typeface="Calibri"/>
                <a:cs typeface="Calibri"/>
              </a:rPr>
              <a:t> los </a:t>
            </a:r>
            <a:r>
              <a:rPr sz="1100" err="1">
                <a:latin typeface="Calibri"/>
                <a:cs typeface="Calibri"/>
              </a:rPr>
              <a:t>próximo</a:t>
            </a:r>
            <a:r>
              <a:rPr lang="es-MX" sz="1100">
                <a:latin typeface="Calibri"/>
                <a:cs typeface="Calibri"/>
              </a:rPr>
              <a:t>s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encuentro</a:t>
            </a:r>
            <a:r>
              <a:rPr lang="es-MX" sz="1100">
                <a:latin typeface="Calibri"/>
                <a:cs typeface="Calibri"/>
              </a:rPr>
              <a:t>s o aco</a:t>
            </a:r>
            <a:r>
              <a:rPr lang="es-MX" sz="1100" spc="25">
                <a:latin typeface="Calibri"/>
                <a:cs typeface="Calibri"/>
              </a:rPr>
              <a:t>mpañamiento del siguiente mes </a:t>
            </a:r>
            <a:r>
              <a:rPr sz="1100">
                <a:latin typeface="Calibri"/>
                <a:cs typeface="Calibri"/>
              </a:rPr>
              <a:t>para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favorecer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el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proceso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desarrollo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y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aprendizaje</a:t>
            </a:r>
            <a:r>
              <a:rPr sz="1100" spc="30">
                <a:latin typeface="Calibri"/>
                <a:cs typeface="Calibri"/>
              </a:rPr>
              <a:t> </a:t>
            </a:r>
            <a:r>
              <a:rPr sz="1100" spc="-25">
                <a:latin typeface="Calibri"/>
                <a:cs typeface="Calibri"/>
              </a:rPr>
              <a:t>de </a:t>
            </a:r>
            <a:r>
              <a:rPr sz="1100">
                <a:latin typeface="Calibri"/>
                <a:cs typeface="Calibri"/>
              </a:rPr>
              <a:t>(</a:t>
            </a:r>
            <a:r>
              <a:rPr sz="1100" err="1">
                <a:latin typeface="Calibri"/>
                <a:cs typeface="Calibri"/>
              </a:rPr>
              <a:t>nombre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la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 err="1">
                <a:latin typeface="Calibri"/>
                <a:cs typeface="Calibri"/>
              </a:rPr>
              <a:t>niña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o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20" err="1">
                <a:latin typeface="Calibri"/>
                <a:cs typeface="Calibri"/>
              </a:rPr>
              <a:t>niño</a:t>
            </a:r>
            <a:r>
              <a:rPr sz="1100" spc="-20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58532" y="7303401"/>
            <a:ext cx="6631940" cy="1885314"/>
            <a:chOff x="958532" y="7303401"/>
            <a:chExt cx="6631940" cy="1885314"/>
          </a:xfrm>
        </p:grpSpPr>
        <p:sp>
          <p:nvSpPr>
            <p:cNvPr id="14" name="object 14"/>
            <p:cNvSpPr/>
            <p:nvPr/>
          </p:nvSpPr>
          <p:spPr>
            <a:xfrm>
              <a:off x="963294" y="7308163"/>
              <a:ext cx="6622415" cy="1875789"/>
            </a:xfrm>
            <a:custGeom>
              <a:avLst/>
              <a:gdLst/>
              <a:ahLst/>
              <a:cxnLst/>
              <a:rect l="l" t="t" r="r" b="b"/>
              <a:pathLst>
                <a:path w="6622415" h="1875790">
                  <a:moveTo>
                    <a:pt x="6622415" y="0"/>
                  </a:moveTo>
                  <a:lnTo>
                    <a:pt x="0" y="0"/>
                  </a:lnTo>
                  <a:lnTo>
                    <a:pt x="0" y="1875789"/>
                  </a:lnTo>
                  <a:lnTo>
                    <a:pt x="6622415" y="1875789"/>
                  </a:lnTo>
                  <a:lnTo>
                    <a:pt x="66224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3294" y="7308163"/>
              <a:ext cx="6622415" cy="1875789"/>
            </a:xfrm>
            <a:custGeom>
              <a:avLst/>
              <a:gdLst/>
              <a:ahLst/>
              <a:cxnLst/>
              <a:rect l="l" t="t" r="r" b="b"/>
              <a:pathLst>
                <a:path w="6622415" h="1875790">
                  <a:moveTo>
                    <a:pt x="0" y="1875789"/>
                  </a:moveTo>
                  <a:lnTo>
                    <a:pt x="6622415" y="1875789"/>
                  </a:lnTo>
                  <a:lnTo>
                    <a:pt x="6622415" y="0"/>
                  </a:lnTo>
                  <a:lnTo>
                    <a:pt x="0" y="0"/>
                  </a:lnTo>
                  <a:lnTo>
                    <a:pt x="0" y="187578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DDF79D66-F2FA-7BA8-89B8-BC54241EB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53576"/>
              </p:ext>
            </p:extLst>
          </p:nvPr>
        </p:nvGraphicFramePr>
        <p:xfrm>
          <a:off x="958392" y="2055267"/>
          <a:ext cx="6593028" cy="2067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302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2067406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70CA6E41-F2AE-C537-4438-61214079A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61366"/>
              </p:ext>
            </p:extLst>
          </p:nvPr>
        </p:nvGraphicFramePr>
        <p:xfrm>
          <a:off x="971092" y="4729225"/>
          <a:ext cx="6593028" cy="19930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302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993011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B7B52520-F066-629F-F223-0FE335043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80127"/>
              </p:ext>
            </p:extLst>
          </p:nvPr>
        </p:nvGraphicFramePr>
        <p:xfrm>
          <a:off x="977442" y="7308163"/>
          <a:ext cx="6593028" cy="1875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93028">
                  <a:extLst>
                    <a:ext uri="{9D8B030D-6E8A-4147-A177-3AD203B41FA5}">
                      <a16:colId xmlns:a16="http://schemas.microsoft.com/office/drawing/2014/main" val="4107580907"/>
                    </a:ext>
                  </a:extLst>
                </a:gridCol>
              </a:tblGrid>
              <a:tr h="1875789">
                <a:tc>
                  <a:txBody>
                    <a:bodyPr/>
                    <a:lstStyle/>
                    <a:p>
                      <a:pPr algn="just"/>
                      <a:endParaRPr lang="es-CO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1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03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940</Words>
  <Application>Microsoft Office PowerPoint</Application>
  <PresentationFormat>Personalizado</PresentationFormat>
  <Paragraphs>85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Candara</vt:lpstr>
      <vt:lpstr>Times New Roman</vt:lpstr>
      <vt:lpstr>Wingdings</vt:lpstr>
      <vt:lpstr>Office Theme</vt:lpstr>
      <vt:lpstr>Planear – acompañamiento a distancia:</vt:lpstr>
      <vt:lpstr>Planear – acompañamiento a distancia:</vt:lpstr>
      <vt:lpstr>Planear – acompañamiento a distancia:</vt:lpstr>
      <vt:lpstr>Planear – acompañamiento a distancia:</vt:lpstr>
      <vt:lpstr>Valoración mensual del acompañamiento a distancia:</vt:lpstr>
      <vt:lpstr>Valoración mensual del acompañamiento a distancia:</vt:lpstr>
      <vt:lpstr>Registro visual:</vt:lpstr>
      <vt:lpstr>Registro de observaciones al desarrollo infantil mensual: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Cuaderno de acompañamiento familiar</dc:title>
  <dc:creator>Julie Pauline Trujillo Vanegas</dc:creator>
  <cp:lastModifiedBy>JIMENA GOMEZ CIRO</cp:lastModifiedBy>
  <cp:revision>40</cp:revision>
  <cp:lastPrinted>2025-10-24T20:28:48Z</cp:lastPrinted>
  <dcterms:created xsi:type="dcterms:W3CDTF">2022-11-17T04:02:41Z</dcterms:created>
  <dcterms:modified xsi:type="dcterms:W3CDTF">2026-06-08T01:11:09Z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2022-11-17T00:00:00Z</vt:filetime>
  </property>
  <property fmtid="{D5CDD505-2E9C-101B-9397-08002B2CF9AE}" pid="5" name="Producer">
    <vt:lpwstr>Microsoft® Word 2016</vt:lpwstr>
  </property>
</Properties>
</file>