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8" r:id="rId2"/>
    <p:sldId id="279" r:id="rId3"/>
    <p:sldId id="280" r:id="rId4"/>
    <p:sldId id="281" r:id="rId5"/>
  </p:sldIdLst>
  <p:sldSz cx="7772400" cy="10058400"/>
  <p:notesSz cx="6954838" cy="930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F08CF-96E3-643F-CD7D-D412DD046E80}" v="90" dt="2025-02-26T17:21:40.117"/>
    <p1510:client id="{1D9C8FC4-1C13-18D4-80EC-D3D3823A4DA6}" v="80" dt="2025-02-26T17:42:54.935"/>
    <p1510:client id="{4DADDFB4-A9DA-4989-8C34-CABE6B548A48}" v="1111" dt="2025-02-26T17:41:18.775"/>
    <p1510:client id="{9E6C3055-E220-D130-7617-C22A67155B82}" v="1" dt="2025-02-26T17:05:19.459"/>
    <p1510:client id="{C318D764-D7CF-9AD4-2B9D-101B29B073D6}" v="111" dt="2025-02-26T17:48:57.0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2482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0302" y="2621237"/>
            <a:ext cx="343335" cy="36382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044" y="40030"/>
            <a:ext cx="5058410" cy="76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8687" y="1639125"/>
            <a:ext cx="6445250" cy="411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721935"/>
            <a:ext cx="179536" cy="302372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82296"/>
            <a:ext cx="4523105" cy="6186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6284" y="103124"/>
            <a:ext cx="415797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>
                <a:latin typeface="Calibri"/>
                <a:cs typeface="Calibri"/>
              </a:rPr>
              <a:t>Parte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tres: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encuentros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en</a:t>
            </a:r>
            <a:r>
              <a:rPr spc="-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el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hogar</a:t>
            </a:r>
            <a:r>
              <a:rPr spc="-65">
                <a:latin typeface="Calibri"/>
                <a:cs typeface="Calibri"/>
              </a:rPr>
              <a:t> </a:t>
            </a:r>
            <a:r>
              <a:rPr spc="-50">
                <a:latin typeface="Calibri"/>
                <a:cs typeface="Calibri"/>
              </a:rPr>
              <a:t>y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" y="409994"/>
            <a:ext cx="3946906" cy="5653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6284" y="534110"/>
            <a:ext cx="3481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>
                <a:latin typeface="Calibri"/>
                <a:cs typeface="Calibri"/>
              </a:rPr>
              <a:t>acompañamientos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spc="-10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593" y="872025"/>
            <a:ext cx="352044" cy="82994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4016" y="1248472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9380" y="978356"/>
            <a:ext cx="6146165" cy="349885"/>
          </a:xfrm>
          <a:custGeom>
            <a:avLst/>
            <a:gdLst/>
            <a:ahLst/>
            <a:cxnLst/>
            <a:rect l="l" t="t" r="r" b="b"/>
            <a:pathLst>
              <a:path w="6146165" h="349884">
                <a:moveTo>
                  <a:pt x="6145657" y="177088"/>
                </a:moveTo>
                <a:lnTo>
                  <a:pt x="0" y="177088"/>
                </a:lnTo>
                <a:lnTo>
                  <a:pt x="0" y="349300"/>
                </a:lnTo>
                <a:lnTo>
                  <a:pt x="6145657" y="349300"/>
                </a:lnTo>
                <a:lnTo>
                  <a:pt x="6145657" y="177088"/>
                </a:lnTo>
                <a:close/>
              </a:path>
              <a:path w="6146165" h="349884">
                <a:moveTo>
                  <a:pt x="6145657" y="0"/>
                </a:moveTo>
                <a:lnTo>
                  <a:pt x="0" y="0"/>
                </a:lnTo>
                <a:lnTo>
                  <a:pt x="0" y="172516"/>
                </a:lnTo>
                <a:lnTo>
                  <a:pt x="6145657" y="172516"/>
                </a:lnTo>
                <a:lnTo>
                  <a:pt x="61456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6680" y="972417"/>
            <a:ext cx="6443484" cy="901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55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apartado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registra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planeación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encuentros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hogar</a:t>
            </a:r>
            <a:r>
              <a:rPr lang="es-MX" sz="1100" dirty="0">
                <a:latin typeface="Calibri"/>
                <a:cs typeface="Calibri"/>
              </a:rPr>
              <a:t>, es decir que se duplican las páginas para cada planeación. 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momento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dirty="0" err="1">
                <a:latin typeface="Calibri"/>
                <a:cs typeface="Calibri"/>
              </a:rPr>
              <a:t>definir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intencionalidad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recuerde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coherente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prácticas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acciones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priorizadas</a:t>
            </a:r>
            <a:r>
              <a:rPr sz="1100" spc="-10" dirty="0">
                <a:latin typeface="Calibri"/>
                <a:cs typeface="Calibri"/>
              </a:rPr>
              <a:t>.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caso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familia</a:t>
            </a:r>
            <a:r>
              <a:rPr lang="es-MX"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cuente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más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lang="es-MX" sz="1100" spc="100" dirty="0">
                <a:latin typeface="Calibri"/>
                <a:cs typeface="Calibri"/>
              </a:rPr>
              <a:t> un participante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importante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defina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mayor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duración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encuentro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aborden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mismo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particularidades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necesidades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cada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uno.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1495" y="1941607"/>
            <a:ext cx="1065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00" b="1" dirty="0">
                <a:latin typeface="Calibri"/>
                <a:cs typeface="Calibri"/>
              </a:rPr>
              <a:t>Encuentro hogar de la vigencia</a:t>
            </a:r>
            <a:r>
              <a:rPr sz="900" b="1" spc="-40" dirty="0">
                <a:latin typeface="Calibri"/>
                <a:cs typeface="Calibri"/>
              </a:rPr>
              <a:t> </a:t>
            </a:r>
            <a:r>
              <a:rPr lang="es-ES" sz="900" b="1" spc="-20" dirty="0" err="1">
                <a:latin typeface="Calibri"/>
                <a:cs typeface="Calibri"/>
              </a:rPr>
              <a:t>Nro</a:t>
            </a:r>
            <a:r>
              <a:rPr sz="900" b="1" spc="-20" dirty="0"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49767" y="1934146"/>
            <a:ext cx="1254760" cy="308610"/>
            <a:chOff x="1949767" y="1934146"/>
            <a:chExt cx="1254760" cy="308610"/>
          </a:xfrm>
        </p:grpSpPr>
        <p:sp>
          <p:nvSpPr>
            <p:cNvPr id="13" name="object 13"/>
            <p:cNvSpPr/>
            <p:nvPr/>
          </p:nvSpPr>
          <p:spPr>
            <a:xfrm>
              <a:off x="1954529" y="1938908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1245234" y="0"/>
                  </a:moveTo>
                  <a:lnTo>
                    <a:pt x="0" y="0"/>
                  </a:lnTo>
                  <a:lnTo>
                    <a:pt x="0" y="299084"/>
                  </a:lnTo>
                  <a:lnTo>
                    <a:pt x="1245234" y="299084"/>
                  </a:lnTo>
                  <a:lnTo>
                    <a:pt x="124523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4529" y="1938908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0" y="299084"/>
                  </a:moveTo>
                  <a:lnTo>
                    <a:pt x="1245234" y="299084"/>
                  </a:lnTo>
                  <a:lnTo>
                    <a:pt x="1245234" y="0"/>
                  </a:lnTo>
                  <a:lnTo>
                    <a:pt x="0" y="0"/>
                  </a:lnTo>
                  <a:lnTo>
                    <a:pt x="0" y="299084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97122" y="1971801"/>
            <a:ext cx="361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err="1">
                <a:latin typeface="Calibri"/>
                <a:cs typeface="Calibri"/>
              </a:rPr>
              <a:t>Fecha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57307" y="1950021"/>
            <a:ext cx="1112520" cy="323850"/>
            <a:chOff x="3857307" y="1950021"/>
            <a:chExt cx="1112520" cy="323850"/>
          </a:xfrm>
        </p:grpSpPr>
        <p:sp>
          <p:nvSpPr>
            <p:cNvPr id="17" name="object 17"/>
            <p:cNvSpPr/>
            <p:nvPr/>
          </p:nvSpPr>
          <p:spPr>
            <a:xfrm>
              <a:off x="3862070" y="1954783"/>
              <a:ext cx="1102995" cy="314325"/>
            </a:xfrm>
            <a:custGeom>
              <a:avLst/>
              <a:gdLst/>
              <a:ahLst/>
              <a:cxnLst/>
              <a:rect l="l" t="t" r="r" b="b"/>
              <a:pathLst>
                <a:path w="1102995" h="314325">
                  <a:moveTo>
                    <a:pt x="1102995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102995" y="314325"/>
                  </a:lnTo>
                  <a:lnTo>
                    <a:pt x="110299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2070" y="1954783"/>
              <a:ext cx="1102995" cy="314325"/>
            </a:xfrm>
            <a:custGeom>
              <a:avLst/>
              <a:gdLst/>
              <a:ahLst/>
              <a:cxnLst/>
              <a:rect l="l" t="t" r="r" b="b"/>
              <a:pathLst>
                <a:path w="1102995" h="314325">
                  <a:moveTo>
                    <a:pt x="0" y="314325"/>
                  </a:moveTo>
                  <a:lnTo>
                    <a:pt x="1102995" y="314325"/>
                  </a:lnTo>
                  <a:lnTo>
                    <a:pt x="1102995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01792" y="1991613"/>
            <a:ext cx="306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>
                <a:latin typeface="Calibri"/>
                <a:cs typeface="Calibri"/>
              </a:rPr>
              <a:t>Hora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07367" y="1950021"/>
            <a:ext cx="1490980" cy="323215"/>
            <a:chOff x="5607367" y="1950021"/>
            <a:chExt cx="1490980" cy="323215"/>
          </a:xfrm>
        </p:grpSpPr>
        <p:sp>
          <p:nvSpPr>
            <p:cNvPr id="21" name="object 21"/>
            <p:cNvSpPr/>
            <p:nvPr/>
          </p:nvSpPr>
          <p:spPr>
            <a:xfrm>
              <a:off x="5612129" y="1954783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1481454" y="0"/>
                  </a:moveTo>
                  <a:lnTo>
                    <a:pt x="0" y="0"/>
                  </a:lnTo>
                  <a:lnTo>
                    <a:pt x="0" y="313690"/>
                  </a:lnTo>
                  <a:lnTo>
                    <a:pt x="1481454" y="313690"/>
                  </a:lnTo>
                  <a:lnTo>
                    <a:pt x="1481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612129" y="1954783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0" y="313690"/>
                  </a:moveTo>
                  <a:lnTo>
                    <a:pt x="1481454" y="313690"/>
                  </a:lnTo>
                  <a:lnTo>
                    <a:pt x="1481454" y="0"/>
                  </a:lnTo>
                  <a:lnTo>
                    <a:pt x="0" y="0"/>
                  </a:lnTo>
                  <a:lnTo>
                    <a:pt x="0" y="31369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9160" y="2348992"/>
            <a:ext cx="6527800" cy="17335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4445">
              <a:lnSpc>
                <a:spcPts val="1355"/>
              </a:lnSpc>
              <a:spcBef>
                <a:spcPts val="10"/>
              </a:spcBef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TALENTO</a:t>
            </a:r>
            <a:r>
              <a:rPr sz="1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HUMANO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RESPONSABLE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8525" y="3104388"/>
            <a:ext cx="6527800" cy="220979"/>
          </a:xfrm>
          <a:custGeom>
            <a:avLst/>
            <a:gdLst/>
            <a:ahLst/>
            <a:cxnLst/>
            <a:rect l="l" t="t" r="r" b="b"/>
            <a:pathLst>
              <a:path w="6527800" h="220979">
                <a:moveTo>
                  <a:pt x="6527800" y="0"/>
                </a:moveTo>
                <a:lnTo>
                  <a:pt x="0" y="0"/>
                </a:lnTo>
                <a:lnTo>
                  <a:pt x="0" y="220979"/>
                </a:lnTo>
                <a:lnTo>
                  <a:pt x="6527800" y="220979"/>
                </a:lnTo>
                <a:lnTo>
                  <a:pt x="65278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88288" y="2578354"/>
            <a:ext cx="6543675" cy="72776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3609975" algn="l"/>
                <a:tab pos="3827779" algn="l"/>
                <a:tab pos="4222115" algn="l"/>
                <a:tab pos="6530340" algn="l"/>
              </a:tabLst>
            </a:pPr>
            <a:r>
              <a:rPr lang="es-CO"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JIMENA GÓMEZ CIRO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 err="1">
                <a:latin typeface="Calibri"/>
                <a:cs typeface="Calibri"/>
              </a:rPr>
              <a:t>Rol</a:t>
            </a:r>
            <a:r>
              <a:rPr sz="1200" spc="-20" dirty="0">
                <a:latin typeface="Calibri"/>
                <a:cs typeface="Calibri"/>
              </a:rPr>
              <a:t>: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lang="es-419" sz="1200" dirty="0">
                <a:latin typeface="Calibri"/>
                <a:cs typeface="Calibri"/>
              </a:rPr>
              <a:t>   </a:t>
            </a:r>
            <a:r>
              <a:rPr lang="es-419" sz="1200" u="sng" dirty="0">
                <a:latin typeface="Calibri"/>
                <a:cs typeface="Calibri"/>
              </a:rPr>
              <a:t>Agente Educativo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3609975" algn="l"/>
                <a:tab pos="3827779" algn="l"/>
                <a:tab pos="4222115" algn="l"/>
                <a:tab pos="653034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 err="1">
                <a:latin typeface="Calibri"/>
                <a:cs typeface="Calibri"/>
              </a:rPr>
              <a:t>Rol</a:t>
            </a:r>
            <a:r>
              <a:rPr sz="1200" spc="-20" dirty="0">
                <a:latin typeface="Calibri"/>
                <a:cs typeface="Calibri"/>
              </a:rPr>
              <a:t>:</a:t>
            </a:r>
            <a:r>
              <a:rPr lang="es-CO" sz="1200" spc="-20" dirty="0">
                <a:latin typeface="Calibri"/>
                <a:cs typeface="Calibri"/>
              </a:rPr>
              <a:t>        ______________________________</a:t>
            </a:r>
            <a:endParaRPr sz="12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86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INTENCIONALIDAD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99160" y="3388740"/>
            <a:ext cx="6527800" cy="1371600"/>
          </a:xfrm>
          <a:custGeom>
            <a:avLst/>
            <a:gdLst/>
            <a:ahLst/>
            <a:cxnLst/>
            <a:rect l="l" t="t" r="r" b="b"/>
            <a:pathLst>
              <a:path w="6527800" h="1371600">
                <a:moveTo>
                  <a:pt x="0" y="1371600"/>
                </a:moveTo>
                <a:lnTo>
                  <a:pt x="6527800" y="1371600"/>
                </a:lnTo>
                <a:lnTo>
                  <a:pt x="65278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94080" y="4865751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2540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20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PEDAGÓGICA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DESARROLLAR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9086" y="5153025"/>
            <a:ext cx="1628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>
                <a:latin typeface="Calibri"/>
                <a:cs typeface="Calibri"/>
              </a:rPr>
              <a:t>Momento</a:t>
            </a:r>
            <a:r>
              <a:rPr sz="1100" b="1" spc="-6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uno:</a:t>
            </a:r>
            <a:r>
              <a:rPr sz="1100" b="1" spc="-6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conectarnos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76312" y="5405577"/>
            <a:ext cx="4552950" cy="3808729"/>
            <a:chOff x="976312" y="5405577"/>
            <a:chExt cx="4552950" cy="3808729"/>
          </a:xfrm>
        </p:grpSpPr>
        <p:sp>
          <p:nvSpPr>
            <p:cNvPr id="30" name="object 30"/>
            <p:cNvSpPr/>
            <p:nvPr/>
          </p:nvSpPr>
          <p:spPr>
            <a:xfrm>
              <a:off x="981075" y="5410339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4543425" y="0"/>
                  </a:moveTo>
                  <a:lnTo>
                    <a:pt x="0" y="0"/>
                  </a:lnTo>
                  <a:lnTo>
                    <a:pt x="0" y="3799204"/>
                  </a:lnTo>
                  <a:lnTo>
                    <a:pt x="4543425" y="3799204"/>
                  </a:lnTo>
                  <a:lnTo>
                    <a:pt x="4543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81075" y="5410339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0" y="3799204"/>
                  </a:moveTo>
                  <a:lnTo>
                    <a:pt x="4543425" y="3799204"/>
                  </a:lnTo>
                  <a:lnTo>
                    <a:pt x="4543425" y="0"/>
                  </a:lnTo>
                  <a:lnTo>
                    <a:pt x="0" y="0"/>
                  </a:lnTo>
                  <a:lnTo>
                    <a:pt x="0" y="37992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77772" y="5442584"/>
            <a:ext cx="75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24500" y="5410339"/>
            <a:ext cx="1898650" cy="3799204"/>
          </a:xfrm>
          <a:custGeom>
            <a:avLst/>
            <a:gdLst/>
            <a:ahLst/>
            <a:cxnLst/>
            <a:rect l="l" t="t" r="r" b="b"/>
            <a:pathLst>
              <a:path w="1898650" h="3799204">
                <a:moveTo>
                  <a:pt x="0" y="3799204"/>
                </a:moveTo>
                <a:lnTo>
                  <a:pt x="1898650" y="3799204"/>
                </a:lnTo>
                <a:lnTo>
                  <a:pt x="1898650" y="0"/>
                </a:lnTo>
                <a:lnTo>
                  <a:pt x="0" y="0"/>
                </a:lnTo>
                <a:lnTo>
                  <a:pt x="0" y="37992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21401" y="5442584"/>
            <a:ext cx="5607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C0C87AE1-592B-AC73-7809-A867016E6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144546"/>
              </p:ext>
            </p:extLst>
          </p:nvPr>
        </p:nvGraphicFramePr>
        <p:xfrm>
          <a:off x="952347" y="3430778"/>
          <a:ext cx="6411266" cy="12984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1266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298433"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6" name="Tabla 35">
            <a:extLst>
              <a:ext uri="{FF2B5EF4-FFF2-40B4-BE49-F238E27FC236}">
                <a16:creationId xmlns:a16="http://schemas.microsoft.com/office/drawing/2014/main" id="{1D1A7E54-CA7F-E245-B958-787772190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888795"/>
              </p:ext>
            </p:extLst>
          </p:nvPr>
        </p:nvGraphicFramePr>
        <p:xfrm>
          <a:off x="994332" y="5699898"/>
          <a:ext cx="4433267" cy="3380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3267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380146">
                <a:tc>
                  <a:txBody>
                    <a:bodyPr/>
                    <a:lstStyle/>
                    <a:p>
                      <a:pPr algn="just"/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62CB5571-9B38-6D36-972B-6CD4F7664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38688"/>
              </p:ext>
            </p:extLst>
          </p:nvPr>
        </p:nvGraphicFramePr>
        <p:xfrm>
          <a:off x="5612130" y="5699898"/>
          <a:ext cx="1796034" cy="3509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6034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509645">
                <a:tc>
                  <a:txBody>
                    <a:bodyPr/>
                    <a:lstStyle/>
                    <a:p>
                      <a:br>
                        <a:rPr lang="es-CO" sz="1000" dirty="0"/>
                      </a:br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743200"/>
            <a:ext cx="179536" cy="300245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721" y="920176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3972" y="1283905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346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t>Planear</a:t>
            </a:r>
            <a:r>
              <a:rPr spc="-30"/>
              <a:t> </a:t>
            </a:r>
            <a:r>
              <a:t>-</a:t>
            </a:r>
            <a:r>
              <a:rPr spc="-30"/>
              <a:t> </a:t>
            </a:r>
            <a:r>
              <a:rPr spc="-10"/>
              <a:t>encuentro</a:t>
            </a:r>
            <a:r>
              <a:rPr spc="-35"/>
              <a:t> </a:t>
            </a:r>
            <a:r>
              <a:t>en</a:t>
            </a:r>
            <a:r>
              <a:rPr spc="-30"/>
              <a:t> </a:t>
            </a:r>
            <a:r>
              <a:t>el</a:t>
            </a:r>
            <a:r>
              <a:rPr spc="-35"/>
              <a:t> </a:t>
            </a:r>
            <a:r>
              <a:rPr spc="-10"/>
              <a:t>hogar: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86810" y="984249"/>
            <a:ext cx="208851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Calibri"/>
                <a:cs typeface="Calibri"/>
              </a:rPr>
              <a:t>Momento</a:t>
            </a:r>
            <a:r>
              <a:rPr sz="1100" b="1" spc="-3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dos:</a:t>
            </a:r>
            <a:r>
              <a:rPr sz="1100" b="1" spc="-4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construyendo</a:t>
            </a:r>
            <a:r>
              <a:rPr sz="1100" b="1" spc="-4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juntos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8256" y="1270697"/>
            <a:ext cx="4570857" cy="3825749"/>
            <a:chOff x="1028573" y="1247647"/>
            <a:chExt cx="4570857" cy="3825749"/>
          </a:xfrm>
        </p:grpSpPr>
        <p:sp>
          <p:nvSpPr>
            <p:cNvPr id="8" name="object 8"/>
            <p:cNvSpPr/>
            <p:nvPr/>
          </p:nvSpPr>
          <p:spPr>
            <a:xfrm>
              <a:off x="1028573" y="1569849"/>
              <a:ext cx="4543425" cy="3503547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4543425" y="0"/>
                  </a:moveTo>
                  <a:lnTo>
                    <a:pt x="0" y="0"/>
                  </a:lnTo>
                  <a:lnTo>
                    <a:pt x="0" y="3799204"/>
                  </a:lnTo>
                  <a:lnTo>
                    <a:pt x="4543425" y="3799204"/>
                  </a:lnTo>
                  <a:lnTo>
                    <a:pt x="4543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6005" y="1247647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0" y="3799204"/>
                  </a:moveTo>
                  <a:lnTo>
                    <a:pt x="4543425" y="3799204"/>
                  </a:lnTo>
                  <a:lnTo>
                    <a:pt x="4543425" y="0"/>
                  </a:lnTo>
                  <a:lnTo>
                    <a:pt x="0" y="0"/>
                  </a:lnTo>
                  <a:lnTo>
                    <a:pt x="0" y="37992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2448" y="1279906"/>
            <a:ext cx="7588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99429" y="1247647"/>
            <a:ext cx="1898650" cy="3799204"/>
          </a:xfrm>
          <a:custGeom>
            <a:avLst/>
            <a:gdLst/>
            <a:ahLst/>
            <a:cxnLst/>
            <a:rect l="l" t="t" r="r" b="b"/>
            <a:pathLst>
              <a:path w="1898650" h="3799204">
                <a:moveTo>
                  <a:pt x="0" y="3799204"/>
                </a:moveTo>
                <a:lnTo>
                  <a:pt x="1898650" y="3799204"/>
                </a:lnTo>
                <a:lnTo>
                  <a:pt x="1898650" y="0"/>
                </a:lnTo>
                <a:lnTo>
                  <a:pt x="0" y="0"/>
                </a:lnTo>
                <a:lnTo>
                  <a:pt x="0" y="37992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96077" y="1279906"/>
            <a:ext cx="560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0130" y="5119496"/>
            <a:ext cx="205613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err="1">
                <a:latin typeface="Calibri"/>
                <a:cs typeface="Calibri"/>
              </a:rPr>
              <a:t>Momento</a:t>
            </a:r>
            <a:r>
              <a:rPr sz="1100" b="1">
                <a:latin typeface="Calibri"/>
                <a:cs typeface="Calibri"/>
              </a:rPr>
              <a:t> </a:t>
            </a:r>
            <a:r>
              <a:rPr sz="1100" b="1" spc="-10" err="1">
                <a:latin typeface="Calibri"/>
                <a:cs typeface="Calibri"/>
              </a:rPr>
              <a:t>tres</a:t>
            </a:r>
            <a:r>
              <a:rPr sz="1100" b="1" spc="-10">
                <a:latin typeface="Calibri"/>
                <a:cs typeface="Calibri"/>
              </a:rPr>
              <a:t>:</a:t>
            </a:r>
            <a:r>
              <a:rPr sz="1100" b="1" spc="-15">
                <a:latin typeface="Calibri"/>
                <a:cs typeface="Calibri"/>
              </a:rPr>
              <a:t> </a:t>
            </a:r>
            <a:r>
              <a:rPr sz="1100" b="1" spc="-10" err="1">
                <a:latin typeface="Calibri"/>
                <a:cs typeface="Calibri"/>
              </a:rPr>
              <a:t>comprome</a:t>
            </a:r>
            <a:r>
              <a:rPr lang="es-MX" sz="1100" b="1" spc="-10">
                <a:latin typeface="Calibri"/>
                <a:cs typeface="Calibri"/>
              </a:rPr>
              <a:t>ternos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8230" y="5363336"/>
            <a:ext cx="4543425" cy="2279015"/>
          </a:xfrm>
          <a:custGeom>
            <a:avLst/>
            <a:gdLst/>
            <a:ahLst/>
            <a:cxnLst/>
            <a:rect l="l" t="t" r="r" b="b"/>
            <a:pathLst>
              <a:path w="4543425" h="2279015">
                <a:moveTo>
                  <a:pt x="0" y="2279015"/>
                </a:moveTo>
                <a:lnTo>
                  <a:pt x="4543425" y="2279015"/>
                </a:lnTo>
                <a:lnTo>
                  <a:pt x="4543425" y="0"/>
                </a:lnTo>
                <a:lnTo>
                  <a:pt x="0" y="0"/>
                </a:lnTo>
                <a:lnTo>
                  <a:pt x="0" y="227901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3784" y="5395340"/>
            <a:ext cx="75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22290" y="5363336"/>
            <a:ext cx="1898650" cy="2279015"/>
          </a:xfrm>
          <a:custGeom>
            <a:avLst/>
            <a:gdLst/>
            <a:ahLst/>
            <a:cxnLst/>
            <a:rect l="l" t="t" r="r" b="b"/>
            <a:pathLst>
              <a:path w="1898650" h="2279015">
                <a:moveTo>
                  <a:pt x="0" y="2279015"/>
                </a:moveTo>
                <a:lnTo>
                  <a:pt x="1898650" y="2279015"/>
                </a:lnTo>
                <a:lnTo>
                  <a:pt x="1898650" y="0"/>
                </a:lnTo>
                <a:lnTo>
                  <a:pt x="0" y="0"/>
                </a:lnTo>
                <a:lnTo>
                  <a:pt x="0" y="227901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19317" y="5395340"/>
            <a:ext cx="5607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7857" y="7696961"/>
            <a:ext cx="5476240" cy="34544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137410" marR="5080" indent="-2125345">
              <a:lnSpc>
                <a:spcPts val="1250"/>
              </a:lnSpc>
              <a:spcBef>
                <a:spcPts val="155"/>
              </a:spcBef>
            </a:pPr>
            <a:r>
              <a:rPr sz="1050">
                <a:latin typeface="Arial"/>
                <a:cs typeface="Arial"/>
              </a:rPr>
              <a:t>Si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incluyes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objetos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del</a:t>
            </a:r>
            <a:r>
              <a:rPr sz="1050" spc="-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paquete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didáctico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familiar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las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experiencias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explicar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cuáles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y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15">
                <a:latin typeface="Arial"/>
                <a:cs typeface="Arial"/>
              </a:rPr>
              <a:t> </a:t>
            </a:r>
            <a:r>
              <a:rPr sz="1050" spc="-25">
                <a:latin typeface="Arial"/>
                <a:cs typeface="Arial"/>
              </a:rPr>
              <a:t>qué </a:t>
            </a:r>
            <a:r>
              <a:rPr sz="1050" spc="-10">
                <a:latin typeface="Arial"/>
                <a:cs typeface="Arial"/>
              </a:rPr>
              <a:t>momento</a:t>
            </a:r>
            <a:r>
              <a:rPr sz="1050" spc="-4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se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usarán: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46162" y="8088541"/>
            <a:ext cx="6424930" cy="1087120"/>
            <a:chOff x="1046162" y="8088541"/>
            <a:chExt cx="6424930" cy="1087120"/>
          </a:xfrm>
        </p:grpSpPr>
        <p:sp>
          <p:nvSpPr>
            <p:cNvPr id="20" name="object 20"/>
            <p:cNvSpPr/>
            <p:nvPr/>
          </p:nvSpPr>
          <p:spPr>
            <a:xfrm>
              <a:off x="1050925" y="8093303"/>
              <a:ext cx="6415405" cy="1077595"/>
            </a:xfrm>
            <a:custGeom>
              <a:avLst/>
              <a:gdLst/>
              <a:ahLst/>
              <a:cxnLst/>
              <a:rect l="l" t="t" r="r" b="b"/>
              <a:pathLst>
                <a:path w="6415405" h="1077595">
                  <a:moveTo>
                    <a:pt x="6415405" y="0"/>
                  </a:moveTo>
                  <a:lnTo>
                    <a:pt x="0" y="0"/>
                  </a:lnTo>
                  <a:lnTo>
                    <a:pt x="0" y="1077594"/>
                  </a:lnTo>
                  <a:lnTo>
                    <a:pt x="6415405" y="1077594"/>
                  </a:lnTo>
                  <a:lnTo>
                    <a:pt x="64154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0925" y="8093303"/>
              <a:ext cx="6415405" cy="1077595"/>
            </a:xfrm>
            <a:custGeom>
              <a:avLst/>
              <a:gdLst/>
              <a:ahLst/>
              <a:cxnLst/>
              <a:rect l="l" t="t" r="r" b="b"/>
              <a:pathLst>
                <a:path w="6415405" h="1077595">
                  <a:moveTo>
                    <a:pt x="0" y="1077594"/>
                  </a:moveTo>
                  <a:lnTo>
                    <a:pt x="6415405" y="1077594"/>
                  </a:lnTo>
                  <a:lnTo>
                    <a:pt x="6415405" y="0"/>
                  </a:lnTo>
                  <a:lnTo>
                    <a:pt x="0" y="0"/>
                  </a:lnTo>
                  <a:lnTo>
                    <a:pt x="0" y="107759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270F075-FEF9-8AC9-08D4-038846043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197199"/>
              </p:ext>
            </p:extLst>
          </p:nvPr>
        </p:nvGraphicFramePr>
        <p:xfrm>
          <a:off x="1173784" y="5621020"/>
          <a:ext cx="4393896" cy="1927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3896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27578">
                <a:tc>
                  <a:txBody>
                    <a:bodyPr/>
                    <a:lstStyle/>
                    <a:p>
                      <a:pPr algn="just"/>
                      <a:endParaRPr lang="es-E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7317358D-2013-49CB-8E94-1D4E855E7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495023"/>
              </p:ext>
            </p:extLst>
          </p:nvPr>
        </p:nvGraphicFramePr>
        <p:xfrm>
          <a:off x="5719318" y="5639918"/>
          <a:ext cx="1747012" cy="190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01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08680">
                <a:tc>
                  <a:txBody>
                    <a:bodyPr/>
                    <a:lstStyle/>
                    <a:p>
                      <a:endParaRPr lang="es-CO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134D31B9-8397-3715-C947-6F3C61B96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88834"/>
              </p:ext>
            </p:extLst>
          </p:nvPr>
        </p:nvGraphicFramePr>
        <p:xfrm>
          <a:off x="1097052" y="8153400"/>
          <a:ext cx="6318733" cy="9207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8733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920751">
                <a:tc>
                  <a:txBody>
                    <a:bodyPr/>
                    <a:lstStyle/>
                    <a:p>
                      <a:endParaRPr lang="es-CO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82AED51-079A-D948-1461-39E2EF51F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586073"/>
              </p:ext>
            </p:extLst>
          </p:nvPr>
        </p:nvGraphicFramePr>
        <p:xfrm>
          <a:off x="5645556" y="1592899"/>
          <a:ext cx="1770229" cy="33883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2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388306">
                <a:tc>
                  <a:txBody>
                    <a:bodyPr/>
                    <a:lstStyle/>
                    <a:p>
                      <a:pPr marL="12700" indent="0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Arial MT"/>
                        <a:buNone/>
                        <a:tabLst>
                          <a:tab pos="186055" algn="l"/>
                        </a:tabLst>
                      </a:pPr>
                      <a:endParaRPr lang="es-ES" sz="100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5490CB9F-4057-37AB-ED6D-5E90A38B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68475"/>
              </p:ext>
            </p:extLst>
          </p:nvPr>
        </p:nvGraphicFramePr>
        <p:xfrm>
          <a:off x="5665621" y="5714924"/>
          <a:ext cx="1770229" cy="18845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2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884576">
                <a:tc>
                  <a:txBody>
                    <a:bodyPr/>
                    <a:lstStyle/>
                    <a:p>
                      <a:br>
                        <a:rPr lang="es-ES" sz="1000" dirty="0"/>
                      </a:br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BCE2404-A002-3C9C-A464-9985BED23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535198"/>
              </p:ext>
            </p:extLst>
          </p:nvPr>
        </p:nvGraphicFramePr>
        <p:xfrm>
          <a:off x="1097052" y="1494348"/>
          <a:ext cx="4413810" cy="347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381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475580">
                <a:tc>
                  <a:txBody>
                    <a:bodyPr/>
                    <a:lstStyle/>
                    <a:p>
                      <a:pPr algn="just"/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838893"/>
            <a:ext cx="179536" cy="290676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" y="890930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756" y="1240753"/>
            <a:ext cx="304800" cy="76771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9582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 err="1"/>
              <a:t>Valoración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dirty="0" err="1"/>
              <a:t>encuentro</a:t>
            </a:r>
            <a:r>
              <a:rPr spc="-55" dirty="0"/>
              <a:t> </a:t>
            </a:r>
            <a:r>
              <a:rPr dirty="0" err="1"/>
              <a:t>en</a:t>
            </a:r>
            <a:r>
              <a:rPr spc="-50" dirty="0"/>
              <a:t> </a:t>
            </a:r>
            <a:r>
              <a:rPr dirty="0" err="1"/>
              <a:t>el</a:t>
            </a:r>
            <a:r>
              <a:rPr spc="-55" dirty="0"/>
              <a:t> </a:t>
            </a:r>
            <a:r>
              <a:rPr spc="-10" dirty="0" err="1"/>
              <a:t>hogar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1710" y="94170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90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8148" y="1210310"/>
            <a:ext cx="6367145" cy="170815"/>
          </a:xfrm>
          <a:custGeom>
            <a:avLst/>
            <a:gdLst/>
            <a:ahLst/>
            <a:cxnLst/>
            <a:rect l="l" t="t" r="r" b="b"/>
            <a:pathLst>
              <a:path w="6367145" h="170815">
                <a:moveTo>
                  <a:pt x="6367017" y="0"/>
                </a:moveTo>
                <a:lnTo>
                  <a:pt x="0" y="0"/>
                </a:lnTo>
                <a:lnTo>
                  <a:pt x="0" y="170688"/>
                </a:lnTo>
                <a:lnTo>
                  <a:pt x="6367017" y="170688"/>
                </a:lnTo>
                <a:lnTo>
                  <a:pt x="63670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5448" y="1175359"/>
            <a:ext cx="6386195" cy="373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y</a:t>
            </a:r>
            <a:r>
              <a:rPr sz="1100" spc="11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opiniones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</a:t>
            </a:r>
            <a:r>
              <a:rPr sz="1100" spc="7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familia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lang="es-MX" sz="1100" spc="55" dirty="0">
                <a:solidFill>
                  <a:srgbClr val="3B4043"/>
                </a:solidFill>
                <a:latin typeface="Calibri"/>
                <a:cs typeface="Calibri"/>
              </a:rPr>
              <a:t>y los participantes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sobre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encuentro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25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-2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hogar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3B4043"/>
                </a:solidFill>
                <a:latin typeface="Calibri"/>
                <a:cs typeface="Calibri"/>
              </a:rPr>
              <a:t>vivido</a:t>
            </a:r>
            <a:r>
              <a:rPr lang="es-MX" sz="1100" spc="-10" dirty="0">
                <a:solidFill>
                  <a:srgbClr val="3B4043"/>
                </a:solidFill>
                <a:latin typeface="Calibri"/>
                <a:cs typeface="Calibri"/>
              </a:rPr>
              <a:t>, escribe el relato compartido por ellos y ellas</a:t>
            </a:r>
            <a:r>
              <a:rPr sz="1100" spc="-10" dirty="0">
                <a:solidFill>
                  <a:srgbClr val="3B4043"/>
                </a:solidFill>
                <a:latin typeface="Calibri"/>
                <a:cs typeface="Calibri"/>
              </a:rPr>
              <a:t>: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014" y="1639316"/>
            <a:ext cx="3168650" cy="362585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315"/>
              </a:spcBef>
            </a:pP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les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spc="-10" dirty="0">
                <a:solidFill>
                  <a:srgbClr val="3E3E3E"/>
                </a:solidFill>
                <a:latin typeface="Calibri"/>
                <a:cs typeface="Calibri"/>
              </a:rPr>
              <a:t>gustó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y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no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r>
              <a:rPr lang="es-ES"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spc="-10" dirty="0">
                <a:solidFill>
                  <a:srgbClr val="3E3E3E"/>
                </a:solidFill>
                <a:latin typeface="Calibri"/>
                <a:cs typeface="Calibri"/>
              </a:rPr>
              <a:t>encuentro?</a:t>
            </a:r>
            <a:endParaRPr lang="es-ES"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5145" y="1639316"/>
            <a:ext cx="3168650" cy="3495188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519430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sugerencias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tiene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familia</a:t>
            </a:r>
            <a:r>
              <a:rPr lang="es-MX" sz="1200" b="1" spc="-10" dirty="0">
                <a:solidFill>
                  <a:srgbClr val="3E3E3E"/>
                </a:solidFill>
                <a:latin typeface="Calibri"/>
                <a:cs typeface="Calibri"/>
              </a:rPr>
              <a:t> sobre el acompañamiento y para las experiencias próximas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9014" y="5454789"/>
            <a:ext cx="3168650" cy="37363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Lo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aprendieron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este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5145" y="5501665"/>
            <a:ext cx="3168650" cy="36887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315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Compromisos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para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próximo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AABD961-E888-63E7-0059-263A6E593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89662"/>
              </p:ext>
            </p:extLst>
          </p:nvPr>
        </p:nvGraphicFramePr>
        <p:xfrm>
          <a:off x="1055013" y="2007778"/>
          <a:ext cx="3076652" cy="2927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927211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B1A524C0-DCD0-BDD6-9ABB-587F08A1D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80060"/>
              </p:ext>
            </p:extLst>
          </p:nvPr>
        </p:nvGraphicFramePr>
        <p:xfrm>
          <a:off x="1038148" y="5873623"/>
          <a:ext cx="3076652" cy="3243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43072">
                <a:tc>
                  <a:txBody>
                    <a:bodyPr wrap="square"/>
                    <a:lstStyle/>
                    <a:p>
                      <a:pPr algn="just"/>
                      <a:r>
                        <a:rPr sz="1200" i="1">
                          <a:solidFill>
                            <a:srgbClr val="C0504D"/>
                          </a:solidFill>
                        </a:rPr>
                        <a:t>» BORRADOR (revisar y ajustar con lo realmente vivido): Como familia, aprendimos que es normal que nuestro hijo necesite un momento para adaptarse a situaciones nuevas antes de participar, y que lo más importante es respetar ese tiempo sin presionarlo. Nos gustó mucho ver cómo, una vez que se sintió seguro, se acercó al grupo con alegría y disfrutó la exploración de los ritmos musicales. Esto nos enseña que la confianza de nuestro niño crece cuando le damos espacio y lo acompañamos con paciencia, y que esos momentos de alegría y movimiento también son una forma valiosa de aprender y desarrollarse.</a:t>
                      </a:r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0DA70377-2A4A-AF18-B479-19CB9A0CC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39413"/>
              </p:ext>
            </p:extLst>
          </p:nvPr>
        </p:nvGraphicFramePr>
        <p:xfrm>
          <a:off x="4361128" y="2254389"/>
          <a:ext cx="3076652" cy="2774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774811">
                <a:tc>
                  <a:txBody>
                    <a:bodyPr/>
                    <a:lstStyle/>
                    <a:p>
                      <a:pPr algn="just"/>
                      <a:endParaRPr lang="es-E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62B24C0-4BD8-44C0-B284-E5E562FA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137700"/>
              </p:ext>
            </p:extLst>
          </p:nvPr>
        </p:nvGraphicFramePr>
        <p:xfrm>
          <a:off x="4381144" y="5897363"/>
          <a:ext cx="3076652" cy="3243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43072">
                <a:tc>
                  <a:txBody>
                    <a:bodyPr wrap="square"/>
                    <a:lstStyle/>
                    <a:p>
                      <a:pPr algn="just"/>
                      <a:r>
                        <a:rPr sz="1200" i="1">
                          <a:solidFill>
                            <a:srgbClr val="C0504D"/>
                          </a:solidFill>
                        </a:rPr>
                        <a:t>» BORRADOR (revisar y ajustar con lo realmente vivido): Nos comprometemos como familia a seguir acompañando a nuestro hijo en estos momentos de exploración, animándolo con paciencia y cariño cuando al inicio se muestre algo reacio a participar, tal como lo observamos hoy durante la actividad con los ritmos musicales. Reconocemos que darle su tiempo para acercarse a las situaciones nuevas es parte de su proceso, y que cuando se siente seguro y en confianza, se integra con mucha alegría. Por eso, en casa buscaremos espacios tranquilos donde pueda escuchar música y moverse libremente, sin presiones, para que siga fortaleciendo esa confianza en sí mismo y en los demás.</a:t>
                      </a:r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934586"/>
            <a:ext cx="179536" cy="28110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10" y="838687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6017" y="1233169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encuentros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25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578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 err="1"/>
              <a:t>Valoración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dirty="0" err="1"/>
              <a:t>encuentro</a:t>
            </a:r>
            <a:r>
              <a:rPr spc="-55" dirty="0"/>
              <a:t> </a:t>
            </a:r>
            <a:r>
              <a:rPr dirty="0" err="1"/>
              <a:t>en</a:t>
            </a:r>
            <a:r>
              <a:rPr spc="-50" dirty="0"/>
              <a:t> </a:t>
            </a:r>
            <a:r>
              <a:rPr dirty="0" err="1"/>
              <a:t>el</a:t>
            </a:r>
            <a:r>
              <a:rPr spc="-55" dirty="0"/>
              <a:t> </a:t>
            </a:r>
            <a:r>
              <a:rPr spc="-10" dirty="0" err="1"/>
              <a:t>hogar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3930" y="91503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TALENTO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HUMANO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SERVICIO: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0716" y="1233169"/>
            <a:ext cx="6432550" cy="170815"/>
          </a:xfrm>
          <a:custGeom>
            <a:avLst/>
            <a:gdLst/>
            <a:ahLst/>
            <a:cxnLst/>
            <a:rect l="l" t="t" r="r" b="b"/>
            <a:pathLst>
              <a:path w="6432550" h="170815">
                <a:moveTo>
                  <a:pt x="6432550" y="0"/>
                </a:moveTo>
                <a:lnTo>
                  <a:pt x="0" y="0"/>
                </a:lnTo>
                <a:lnTo>
                  <a:pt x="0" y="170688"/>
                </a:lnTo>
                <a:lnTo>
                  <a:pt x="6432550" y="170688"/>
                </a:lnTo>
                <a:lnTo>
                  <a:pt x="6432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8016" y="1198219"/>
            <a:ext cx="645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4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a</a:t>
            </a:r>
            <a:r>
              <a:rPr sz="1100" spc="9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manera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análisis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del</a:t>
            </a:r>
            <a:r>
              <a:rPr sz="1100" spc="8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talento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humano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que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acompaño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encuentro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25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-2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3B4043"/>
                </a:solidFill>
                <a:latin typeface="Calibri"/>
                <a:cs typeface="Calibri"/>
              </a:rPr>
              <a:t>hogar</a:t>
            </a:r>
            <a:r>
              <a:rPr sz="1100" spc="-10" dirty="0">
                <a:solidFill>
                  <a:srgbClr val="3B4043"/>
                </a:solidFill>
                <a:latin typeface="Calibri"/>
                <a:cs typeface="Calibri"/>
              </a:rPr>
              <a:t>: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025" y="1765045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Considera</a:t>
            </a:r>
            <a:r>
              <a:rPr sz="12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se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alcanzó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intencionalidad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2440" y="1759839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5560" rIns="0" bIns="0" rtlCol="0">
            <a:spAutoFit/>
          </a:bodyPr>
          <a:lstStyle/>
          <a:p>
            <a:pPr marL="1423035" marR="43815" indent="-1387475">
              <a:lnSpc>
                <a:spcPct val="102499"/>
              </a:lnSpc>
              <a:spcBef>
                <a:spcPts val="280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Cuál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fue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mejor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momento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3E3E3E"/>
                </a:solidFill>
                <a:latin typeface="Calibri"/>
                <a:cs typeface="Calibri"/>
              </a:rPr>
              <a:t>¿Por </a:t>
            </a:r>
            <a:r>
              <a:rPr sz="1200" b="1" spc="-20" dirty="0" err="1">
                <a:solidFill>
                  <a:srgbClr val="3E3E3E"/>
                </a:solidFill>
                <a:latin typeface="Calibri"/>
                <a:cs typeface="Calibri"/>
              </a:rPr>
              <a:t>qué</a:t>
            </a:r>
            <a:r>
              <a:rPr sz="1200" b="1" spc="-2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025" y="4272279"/>
            <a:ext cx="646303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Cómo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participó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familia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Quiénes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participaron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085" y="6791121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90"/>
              </a:lnSpc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Qué</a:t>
            </a:r>
            <a:r>
              <a:rPr sz="12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recomendaciones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harían</a:t>
            </a:r>
            <a:r>
              <a:rPr sz="12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para</a:t>
            </a:r>
            <a:r>
              <a:rPr sz="12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próximo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3865" y="6797217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1430" rIns="0" bIns="0" rtlCol="0">
            <a:spAutoFit/>
          </a:bodyPr>
          <a:lstStyle/>
          <a:p>
            <a:pPr marL="1205865" marR="368935" indent="-814069">
              <a:lnSpc>
                <a:spcPct val="1100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Cómo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se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aprovecharon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los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materiales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propuestos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F4236B75-0F20-42DB-2DE5-A4CEF6BC0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78529"/>
              </p:ext>
            </p:extLst>
          </p:nvPr>
        </p:nvGraphicFramePr>
        <p:xfrm>
          <a:off x="1037184" y="2238851"/>
          <a:ext cx="3065551" cy="1681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681985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10287FDF-0E76-8CB7-1FA0-53BA8F181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470142"/>
              </p:ext>
            </p:extLst>
          </p:nvPr>
        </p:nvGraphicFramePr>
        <p:xfrm>
          <a:off x="4282439" y="2227393"/>
          <a:ext cx="3065551" cy="1743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43957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6B4B5BC-6B2C-6E91-4805-1CD884F29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35122"/>
              </p:ext>
            </p:extLst>
          </p:nvPr>
        </p:nvGraphicFramePr>
        <p:xfrm>
          <a:off x="1010716" y="4722372"/>
          <a:ext cx="6240070" cy="178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007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87520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52EF46FF-1DB2-A2E9-BE24-4304589F7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47317"/>
              </p:ext>
            </p:extLst>
          </p:nvPr>
        </p:nvGraphicFramePr>
        <p:xfrm>
          <a:off x="1003477" y="7394980"/>
          <a:ext cx="3065551" cy="1745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45133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B0F8DAF0-B1BF-5697-7DD8-ABDBAB2D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28506"/>
              </p:ext>
            </p:extLst>
          </p:nvPr>
        </p:nvGraphicFramePr>
        <p:xfrm>
          <a:off x="4282440" y="7288306"/>
          <a:ext cx="3065551" cy="1910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10862">
                <a:tc>
                  <a:txBody>
                    <a:bodyPr/>
                    <a:lstStyle/>
                    <a:p>
                      <a:pPr algn="just"/>
                      <a:endParaRPr lang="es-CO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413</Words>
  <Application>Microsoft Office PowerPoint</Application>
  <PresentationFormat>Personalizado</PresentationFormat>
  <Paragraphs>60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Arial MT</vt:lpstr>
      <vt:lpstr>Calibri</vt:lpstr>
      <vt:lpstr>Candara</vt:lpstr>
      <vt:lpstr>Times New Roman</vt:lpstr>
      <vt:lpstr>Office Theme</vt:lpstr>
      <vt:lpstr>Parte tres: encuentros en el hogar y</vt:lpstr>
      <vt:lpstr>Planear - encuentro en el hogar:</vt:lpstr>
      <vt:lpstr>Valoración del encuentro en el hogar:</vt:lpstr>
      <vt:lpstr>Valoración del encuentro en el hogar: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Cuaderno de acompañamiento familiar</dc:title>
  <dc:creator>Julie Pauline Trujillo Vanegas</dc:creator>
  <cp:lastModifiedBy>JIMENA GOMEZ CIRO</cp:lastModifiedBy>
  <cp:revision>45</cp:revision>
  <cp:lastPrinted>2025-10-24T20:28:48Z</cp:lastPrinted>
  <dcterms:created xsi:type="dcterms:W3CDTF">2022-11-17T04:02:41Z</dcterms:created>
  <dcterms:modified xsi:type="dcterms:W3CDTF">2026-06-08T01:09:54Z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2022-11-17T00:00:00Z</vt:filetime>
  </property>
  <property fmtid="{D5CDD505-2E9C-101B-9397-08002B2CF9AE}" pid="5" name="Producer">
    <vt:lpwstr>Microsoft® Word 2016</vt:lpwstr>
  </property>
</Properties>
</file>